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92" r:id="rId15"/>
    <p:sldId id="270" r:id="rId16"/>
    <p:sldId id="271" r:id="rId17"/>
    <p:sldId id="272" r:id="rId18"/>
    <p:sldId id="273" r:id="rId19"/>
    <p:sldId id="274" r:id="rId20"/>
    <p:sldId id="293" r:id="rId21"/>
    <p:sldId id="275" r:id="rId22"/>
    <p:sldId id="276" r:id="rId23"/>
    <p:sldId id="291" r:id="rId24"/>
  </p:sldIdLst>
  <p:sldSz cx="9144000" cy="5143500" type="screen16x9"/>
  <p:notesSz cx="6858000" cy="9144000"/>
  <p:embeddedFontLst>
    <p:embeddedFont>
      <p:font typeface="Fira Sans Condensed" panose="020B0604020202020204" charset="0"/>
      <p:regular r:id="rId26"/>
      <p:bold r:id="rId27"/>
      <p:italic r:id="rId28"/>
      <p:boldItalic r:id="rId29"/>
    </p:embeddedFont>
    <p:embeddedFont>
      <p:font typeface="Fira Sans Condensed Light" panose="020B0604020202020204" charset="0"/>
      <p:regular r:id="rId30"/>
      <p:bold r:id="rId31"/>
      <p:italic r:id="rId32"/>
      <p:boldItalic r:id="rId33"/>
    </p:embeddedFont>
    <p:embeddedFont>
      <p:font typeface="Rajdhani" panose="020B0604020202020204" charset="0"/>
      <p:regular r:id="rId34"/>
      <p:bold r:id="rId35"/>
    </p:embeddedFont>
    <p:embeddedFont>
      <p:font typeface="Rockwell" panose="02060603020205020403" pitchFamily="18" charset="0"/>
      <p:regular r:id="rId36"/>
      <p:bold r:id="rId37"/>
      <p:italic r:id="rId38"/>
      <p:boldItalic r:id="rId39"/>
    </p:embeddedFont>
    <p:embeddedFont>
      <p:font typeface="Segoe UI Black" panose="020B0A02040204020203" pitchFamily="34" charset="0"/>
      <p:bold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25">
          <p15:clr>
            <a:srgbClr val="9AA0A6"/>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0"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7C714BF-4049-4C54-A935-052F67601C13}">
  <a:tblStyle styleId="{27C714BF-4049-4C54-A935-052F67601C1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10" autoAdjust="0"/>
    <p:restoredTop sz="94660"/>
  </p:normalViewPr>
  <p:slideViewPr>
    <p:cSldViewPr snapToGrid="0">
      <p:cViewPr varScale="1">
        <p:scale>
          <a:sx n="108" d="100"/>
          <a:sy n="108" d="100"/>
        </p:scale>
        <p:origin x="869" y="82"/>
      </p:cViewPr>
      <p:guideLst>
        <p:guide orient="horz" pos="625"/>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708a6ee8a1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708a6ee8a1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18a87eb8680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18a87eb8680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8a87eb8680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8a87eb8680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8a87eb8680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8a87eb8680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8a87eb8680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18a87eb8680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6bcecd75ae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16bcecd75ae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16bcecd75ae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16bcecd75ae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16bcecd75a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16bcecd75a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16bcecd75a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 name="Google Shape;461;g16bcecd75ae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16bcecd75ae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16bcecd75ae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16bcecd75ae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3" name="Google Shape;523;g16bcecd75ae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16bcecd75ae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16bcecd75ae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16bcecd75ae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16bcecd75ae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16bcecd75ae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4" name="Google Shape;744;g16bcecd75ae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g16bcecd75ae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3" name="Google Shape;793;g16bcecd75ae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16bcecd75ae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3" name="Google Shape;843;g16bcecd75ae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16bcecd75ae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16bcecd75ae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10" name="Google Shape;10;p2"/>
          <p:cNvSpPr txBox="1">
            <a:spLocks noGrp="1"/>
          </p:cNvSpPr>
          <p:nvPr>
            <p:ph type="ctrTitle"/>
          </p:nvPr>
        </p:nvSpPr>
        <p:spPr>
          <a:xfrm>
            <a:off x="4139149" y="928938"/>
            <a:ext cx="4291500" cy="29610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4139125" y="3848863"/>
            <a:ext cx="4291500" cy="365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2"/>
        <p:cNvGrpSpPr/>
        <p:nvPr/>
      </p:nvGrpSpPr>
      <p:grpSpPr>
        <a:xfrm>
          <a:off x="0" y="0"/>
          <a:ext cx="0" cy="0"/>
          <a:chOff x="0" y="0"/>
          <a:chExt cx="0" cy="0"/>
        </a:xfrm>
      </p:grpSpPr>
      <p:pic>
        <p:nvPicPr>
          <p:cNvPr id="13" name="Google Shape;13;p3"/>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14" name="Google Shape;14;p3"/>
          <p:cNvSpPr txBox="1">
            <a:spLocks noGrp="1"/>
          </p:cNvSpPr>
          <p:nvPr>
            <p:ph type="title"/>
          </p:nvPr>
        </p:nvSpPr>
        <p:spPr>
          <a:xfrm>
            <a:off x="4634135" y="1434600"/>
            <a:ext cx="35328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pic>
        <p:nvPicPr>
          <p:cNvPr id="16" name="Google Shape;16;p4"/>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17" name="Google Shape;17;p4"/>
          <p:cNvSpPr txBox="1">
            <a:spLocks noGrp="1"/>
          </p:cNvSpPr>
          <p:nvPr>
            <p:ph type="body" idx="1"/>
          </p:nvPr>
        </p:nvSpPr>
        <p:spPr>
          <a:xfrm>
            <a:off x="1115100" y="1152475"/>
            <a:ext cx="6913800" cy="3456000"/>
          </a:xfrm>
          <a:prstGeom prst="rect">
            <a:avLst/>
          </a:prstGeom>
          <a:solidFill>
            <a:schemeClr val="dk1">
              <a:alpha val="56699"/>
            </a:schemeClr>
          </a:solidFill>
        </p:spPr>
        <p:txBody>
          <a:bodyPr spcFirstLastPara="1" wrap="square" lIns="91425" tIns="91425" rIns="91425" bIns="91425" anchor="t" anchorCtr="0">
            <a:noAutofit/>
          </a:bodyPr>
          <a:lstStyle>
            <a:lvl1pPr marL="457200" lvl="0" indent="-317500">
              <a:lnSpc>
                <a:spcPct val="100000"/>
              </a:lnSpc>
              <a:spcBef>
                <a:spcPts val="0"/>
              </a:spcBef>
              <a:spcAft>
                <a:spcPts val="0"/>
              </a:spcAft>
              <a:buClr>
                <a:srgbClr val="191919"/>
              </a:buClr>
              <a:buSzPts val="1400"/>
              <a:buFont typeface="Anaheim"/>
              <a:buChar char="●"/>
              <a:defRPr sz="1400">
                <a:solidFill>
                  <a:srgbClr val="F3F3F3"/>
                </a:solidFill>
                <a:latin typeface="Fira Sans Condensed"/>
                <a:ea typeface="Fira Sans Condensed"/>
                <a:cs typeface="Fira Sans Condensed"/>
                <a:sym typeface="Fira Sans Condensed"/>
              </a:defRPr>
            </a:lvl1pPr>
            <a:lvl2pPr marL="914400" lvl="1" indent="-317500">
              <a:spcBef>
                <a:spcPts val="0"/>
              </a:spcBef>
              <a:spcAft>
                <a:spcPts val="0"/>
              </a:spcAft>
              <a:buClr>
                <a:srgbClr val="191919"/>
              </a:buClr>
              <a:buSzPts val="1400"/>
              <a:buFont typeface="Roboto Condensed Light"/>
              <a:buChar char="○"/>
              <a:defRPr sz="1400">
                <a:latin typeface="Fira Sans Condensed"/>
                <a:ea typeface="Fira Sans Condensed"/>
                <a:cs typeface="Fira Sans Condensed"/>
                <a:sym typeface="Fira Sans Condensed"/>
              </a:defRPr>
            </a:lvl2pPr>
            <a:lvl3pPr marL="1371600" lvl="2" indent="-317500">
              <a:spcBef>
                <a:spcPts val="0"/>
              </a:spcBef>
              <a:spcAft>
                <a:spcPts val="0"/>
              </a:spcAft>
              <a:buClr>
                <a:srgbClr val="191919"/>
              </a:buClr>
              <a:buSzPts val="1400"/>
              <a:buFont typeface="Roboto Condensed Light"/>
              <a:buChar char="■"/>
              <a:defRPr sz="1200"/>
            </a:lvl3pPr>
            <a:lvl4pPr marL="1828800" lvl="3" indent="-317500">
              <a:spcBef>
                <a:spcPts val="0"/>
              </a:spcBef>
              <a:spcAft>
                <a:spcPts val="0"/>
              </a:spcAft>
              <a:buClr>
                <a:srgbClr val="191919"/>
              </a:buClr>
              <a:buSzPts val="1400"/>
              <a:buFont typeface="Roboto Condensed Light"/>
              <a:buChar char="●"/>
              <a:defRPr sz="1200"/>
            </a:lvl4pPr>
            <a:lvl5pPr marL="2286000" lvl="4" indent="-317500">
              <a:spcBef>
                <a:spcPts val="0"/>
              </a:spcBef>
              <a:spcAft>
                <a:spcPts val="0"/>
              </a:spcAft>
              <a:buClr>
                <a:srgbClr val="191919"/>
              </a:buClr>
              <a:buSzPts val="1400"/>
              <a:buFont typeface="Roboto Condensed Light"/>
              <a:buChar char="○"/>
              <a:defRPr sz="1200"/>
            </a:lvl5pPr>
            <a:lvl6pPr marL="2743200" lvl="5" indent="-317500">
              <a:spcBef>
                <a:spcPts val="0"/>
              </a:spcBef>
              <a:spcAft>
                <a:spcPts val="0"/>
              </a:spcAft>
              <a:buClr>
                <a:srgbClr val="191919"/>
              </a:buClr>
              <a:buSzPts val="1400"/>
              <a:buFont typeface="Roboto Condensed Light"/>
              <a:buChar char="■"/>
              <a:defRPr sz="1200"/>
            </a:lvl6pPr>
            <a:lvl7pPr marL="3200400" lvl="6" indent="-317500">
              <a:spcBef>
                <a:spcPts val="0"/>
              </a:spcBef>
              <a:spcAft>
                <a:spcPts val="0"/>
              </a:spcAft>
              <a:buClr>
                <a:srgbClr val="191919"/>
              </a:buClr>
              <a:buSzPts val="1400"/>
              <a:buFont typeface="Roboto Condensed Light"/>
              <a:buChar char="●"/>
              <a:defRPr sz="1200"/>
            </a:lvl7pPr>
            <a:lvl8pPr marL="3657600" lvl="7" indent="-317500">
              <a:spcBef>
                <a:spcPts val="0"/>
              </a:spcBef>
              <a:spcAft>
                <a:spcPts val="0"/>
              </a:spcAft>
              <a:buClr>
                <a:srgbClr val="191919"/>
              </a:buClr>
              <a:buSzPts val="1400"/>
              <a:buFont typeface="Roboto Condensed Light"/>
              <a:buChar char="○"/>
              <a:defRPr sz="1200"/>
            </a:lvl8pPr>
            <a:lvl9pPr marL="4114800" lvl="8" indent="-317500">
              <a:spcBef>
                <a:spcPts val="0"/>
              </a:spcBef>
              <a:spcAft>
                <a:spcPts val="0"/>
              </a:spcAft>
              <a:buClr>
                <a:srgbClr val="191919"/>
              </a:buClr>
              <a:buSzPts val="1400"/>
              <a:buFont typeface="Roboto Condensed Light"/>
              <a:buChar char="■"/>
              <a:defRPr sz="1200"/>
            </a:lvl9pPr>
          </a:lstStyle>
          <a:p>
            <a:endParaRPr/>
          </a:p>
        </p:txBody>
      </p:sp>
      <p:sp>
        <p:nvSpPr>
          <p:cNvPr id="18" name="Google Shape;18;p4"/>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1"/>
        </a:solidFill>
        <a:effectLst/>
      </p:bgPr>
    </p:bg>
    <p:spTree>
      <p:nvGrpSpPr>
        <p:cNvPr id="1" name="Shape 19"/>
        <p:cNvGrpSpPr/>
        <p:nvPr/>
      </p:nvGrpSpPr>
      <p:grpSpPr>
        <a:xfrm>
          <a:off x="0" y="0"/>
          <a:ext cx="0" cy="0"/>
          <a:chOff x="0" y="0"/>
          <a:chExt cx="0" cy="0"/>
        </a:xfrm>
      </p:grpSpPr>
      <p:pic>
        <p:nvPicPr>
          <p:cNvPr id="20" name="Google Shape;20;p5"/>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21" name="Google Shape;21;p5"/>
          <p:cNvSpPr txBox="1">
            <a:spLocks noGrp="1"/>
          </p:cNvSpPr>
          <p:nvPr>
            <p:ph type="subTitle" idx="1"/>
          </p:nvPr>
        </p:nvSpPr>
        <p:spPr>
          <a:xfrm flipH="1">
            <a:off x="5584135" y="2904500"/>
            <a:ext cx="1701300" cy="445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Font typeface="Rajdhani"/>
              <a:buNone/>
              <a:defRPr sz="1800" b="1">
                <a:latin typeface="Rajdhani"/>
                <a:ea typeface="Rajdhani"/>
                <a:cs typeface="Rajdhani"/>
                <a:sym typeface="Rajdhani"/>
              </a:defRPr>
            </a:lvl1pPr>
            <a:lvl2pPr lvl="1" algn="ctr" rtl="0">
              <a:lnSpc>
                <a:spcPct val="100000"/>
              </a:lnSpc>
              <a:spcBef>
                <a:spcPts val="0"/>
              </a:spcBef>
              <a:spcAft>
                <a:spcPts val="0"/>
              </a:spcAft>
              <a:buSzPts val="1400"/>
              <a:buFont typeface="Rajdhani"/>
              <a:buNone/>
              <a:defRPr sz="1400" b="1">
                <a:latin typeface="Rajdhani"/>
                <a:ea typeface="Rajdhani"/>
                <a:cs typeface="Rajdhani"/>
                <a:sym typeface="Rajdhani"/>
              </a:defRPr>
            </a:lvl2pPr>
            <a:lvl3pPr lvl="2" algn="ctr" rtl="0">
              <a:lnSpc>
                <a:spcPct val="100000"/>
              </a:lnSpc>
              <a:spcBef>
                <a:spcPts val="0"/>
              </a:spcBef>
              <a:spcAft>
                <a:spcPts val="0"/>
              </a:spcAft>
              <a:buSzPts val="1400"/>
              <a:buFont typeface="Rajdhani"/>
              <a:buNone/>
              <a:defRPr sz="1400" b="1">
                <a:latin typeface="Rajdhani"/>
                <a:ea typeface="Rajdhani"/>
                <a:cs typeface="Rajdhani"/>
                <a:sym typeface="Rajdhani"/>
              </a:defRPr>
            </a:lvl3pPr>
            <a:lvl4pPr lvl="3" algn="ctr" rtl="0">
              <a:lnSpc>
                <a:spcPct val="100000"/>
              </a:lnSpc>
              <a:spcBef>
                <a:spcPts val="0"/>
              </a:spcBef>
              <a:spcAft>
                <a:spcPts val="0"/>
              </a:spcAft>
              <a:buSzPts val="1400"/>
              <a:buFont typeface="Rajdhani"/>
              <a:buNone/>
              <a:defRPr sz="1400" b="1">
                <a:latin typeface="Rajdhani"/>
                <a:ea typeface="Rajdhani"/>
                <a:cs typeface="Rajdhani"/>
                <a:sym typeface="Rajdhani"/>
              </a:defRPr>
            </a:lvl4pPr>
            <a:lvl5pPr lvl="4" algn="ctr" rtl="0">
              <a:lnSpc>
                <a:spcPct val="100000"/>
              </a:lnSpc>
              <a:spcBef>
                <a:spcPts val="0"/>
              </a:spcBef>
              <a:spcAft>
                <a:spcPts val="0"/>
              </a:spcAft>
              <a:buSzPts val="1400"/>
              <a:buFont typeface="Rajdhani"/>
              <a:buNone/>
              <a:defRPr sz="1400" b="1">
                <a:latin typeface="Rajdhani"/>
                <a:ea typeface="Rajdhani"/>
                <a:cs typeface="Rajdhani"/>
                <a:sym typeface="Rajdhani"/>
              </a:defRPr>
            </a:lvl5pPr>
            <a:lvl6pPr lvl="5" algn="ctr" rtl="0">
              <a:lnSpc>
                <a:spcPct val="100000"/>
              </a:lnSpc>
              <a:spcBef>
                <a:spcPts val="0"/>
              </a:spcBef>
              <a:spcAft>
                <a:spcPts val="0"/>
              </a:spcAft>
              <a:buSzPts val="1400"/>
              <a:buFont typeface="Rajdhani"/>
              <a:buNone/>
              <a:defRPr sz="1400" b="1">
                <a:latin typeface="Rajdhani"/>
                <a:ea typeface="Rajdhani"/>
                <a:cs typeface="Rajdhani"/>
                <a:sym typeface="Rajdhani"/>
              </a:defRPr>
            </a:lvl6pPr>
            <a:lvl7pPr lvl="6" algn="ctr" rtl="0">
              <a:lnSpc>
                <a:spcPct val="100000"/>
              </a:lnSpc>
              <a:spcBef>
                <a:spcPts val="0"/>
              </a:spcBef>
              <a:spcAft>
                <a:spcPts val="0"/>
              </a:spcAft>
              <a:buSzPts val="1400"/>
              <a:buFont typeface="Rajdhani"/>
              <a:buNone/>
              <a:defRPr sz="1400" b="1">
                <a:latin typeface="Rajdhani"/>
                <a:ea typeface="Rajdhani"/>
                <a:cs typeface="Rajdhani"/>
                <a:sym typeface="Rajdhani"/>
              </a:defRPr>
            </a:lvl7pPr>
            <a:lvl8pPr lvl="7" algn="ctr" rtl="0">
              <a:lnSpc>
                <a:spcPct val="100000"/>
              </a:lnSpc>
              <a:spcBef>
                <a:spcPts val="0"/>
              </a:spcBef>
              <a:spcAft>
                <a:spcPts val="0"/>
              </a:spcAft>
              <a:buSzPts val="1400"/>
              <a:buFont typeface="Rajdhani"/>
              <a:buNone/>
              <a:defRPr sz="1400" b="1">
                <a:latin typeface="Rajdhani"/>
                <a:ea typeface="Rajdhani"/>
                <a:cs typeface="Rajdhani"/>
                <a:sym typeface="Rajdhani"/>
              </a:defRPr>
            </a:lvl8pPr>
            <a:lvl9pPr lvl="8" algn="ctr" rtl="0">
              <a:lnSpc>
                <a:spcPct val="100000"/>
              </a:lnSpc>
              <a:spcBef>
                <a:spcPts val="0"/>
              </a:spcBef>
              <a:spcAft>
                <a:spcPts val="0"/>
              </a:spcAft>
              <a:buSzPts val="1400"/>
              <a:buFont typeface="Rajdhani"/>
              <a:buNone/>
              <a:defRPr sz="1400" b="1">
                <a:latin typeface="Rajdhani"/>
                <a:ea typeface="Rajdhani"/>
                <a:cs typeface="Rajdhani"/>
                <a:sym typeface="Rajdhani"/>
              </a:defRPr>
            </a:lvl9pPr>
          </a:lstStyle>
          <a:p>
            <a:endParaRPr/>
          </a:p>
        </p:txBody>
      </p:sp>
      <p:sp>
        <p:nvSpPr>
          <p:cNvPr id="22" name="Google Shape;22;p5"/>
          <p:cNvSpPr txBox="1">
            <a:spLocks noGrp="1"/>
          </p:cNvSpPr>
          <p:nvPr>
            <p:ph type="subTitle" idx="2"/>
          </p:nvPr>
        </p:nvSpPr>
        <p:spPr>
          <a:xfrm flipH="1">
            <a:off x="5079300" y="3229525"/>
            <a:ext cx="2711100" cy="73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Font typeface="Fira Sans Condensed"/>
              <a:buNone/>
              <a:defRPr sz="1400">
                <a:latin typeface="Fira Sans Condensed"/>
                <a:ea typeface="Fira Sans Condensed"/>
                <a:cs typeface="Fira Sans Condensed"/>
                <a:sym typeface="Fira Sans Condensed"/>
              </a:defRPr>
            </a:lvl1pPr>
            <a:lvl2pPr lvl="1"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2pPr>
            <a:lvl3pPr lvl="2"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3pPr>
            <a:lvl4pPr lvl="3"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4pPr>
            <a:lvl5pPr lvl="4"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5pPr>
            <a:lvl6pPr lvl="5"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6pPr>
            <a:lvl7pPr lvl="6"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7pPr>
            <a:lvl8pPr lvl="7"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8pPr>
            <a:lvl9pPr lvl="8"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9pPr>
          </a:lstStyle>
          <a:p>
            <a:endParaRPr/>
          </a:p>
        </p:txBody>
      </p:sp>
      <p:sp>
        <p:nvSpPr>
          <p:cNvPr id="23" name="Google Shape;23;p5"/>
          <p:cNvSpPr txBox="1">
            <a:spLocks noGrp="1"/>
          </p:cNvSpPr>
          <p:nvPr>
            <p:ph type="subTitle" idx="3"/>
          </p:nvPr>
        </p:nvSpPr>
        <p:spPr>
          <a:xfrm flipH="1">
            <a:off x="1858635" y="2904500"/>
            <a:ext cx="1701300" cy="445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400"/>
              <a:buFont typeface="Rajdhani"/>
              <a:buNone/>
              <a:defRPr sz="1800" b="1">
                <a:latin typeface="Rajdhani"/>
                <a:ea typeface="Rajdhani"/>
                <a:cs typeface="Rajdhani"/>
                <a:sym typeface="Rajdhani"/>
              </a:defRPr>
            </a:lvl1pPr>
            <a:lvl2pPr lvl="1" algn="ctr" rtl="0">
              <a:lnSpc>
                <a:spcPct val="100000"/>
              </a:lnSpc>
              <a:spcBef>
                <a:spcPts val="0"/>
              </a:spcBef>
              <a:spcAft>
                <a:spcPts val="0"/>
              </a:spcAft>
              <a:buSzPts val="1400"/>
              <a:buFont typeface="Rajdhani"/>
              <a:buNone/>
              <a:defRPr sz="1400" b="1">
                <a:latin typeface="Rajdhani"/>
                <a:ea typeface="Rajdhani"/>
                <a:cs typeface="Rajdhani"/>
                <a:sym typeface="Rajdhani"/>
              </a:defRPr>
            </a:lvl2pPr>
            <a:lvl3pPr lvl="2" algn="ctr" rtl="0">
              <a:lnSpc>
                <a:spcPct val="100000"/>
              </a:lnSpc>
              <a:spcBef>
                <a:spcPts val="0"/>
              </a:spcBef>
              <a:spcAft>
                <a:spcPts val="0"/>
              </a:spcAft>
              <a:buSzPts val="1400"/>
              <a:buFont typeface="Rajdhani"/>
              <a:buNone/>
              <a:defRPr sz="1400" b="1">
                <a:latin typeface="Rajdhani"/>
                <a:ea typeface="Rajdhani"/>
                <a:cs typeface="Rajdhani"/>
                <a:sym typeface="Rajdhani"/>
              </a:defRPr>
            </a:lvl3pPr>
            <a:lvl4pPr lvl="3" algn="ctr" rtl="0">
              <a:lnSpc>
                <a:spcPct val="100000"/>
              </a:lnSpc>
              <a:spcBef>
                <a:spcPts val="0"/>
              </a:spcBef>
              <a:spcAft>
                <a:spcPts val="0"/>
              </a:spcAft>
              <a:buSzPts val="1400"/>
              <a:buFont typeface="Rajdhani"/>
              <a:buNone/>
              <a:defRPr sz="1400" b="1">
                <a:latin typeface="Rajdhani"/>
                <a:ea typeface="Rajdhani"/>
                <a:cs typeface="Rajdhani"/>
                <a:sym typeface="Rajdhani"/>
              </a:defRPr>
            </a:lvl4pPr>
            <a:lvl5pPr lvl="4" algn="ctr" rtl="0">
              <a:lnSpc>
                <a:spcPct val="100000"/>
              </a:lnSpc>
              <a:spcBef>
                <a:spcPts val="0"/>
              </a:spcBef>
              <a:spcAft>
                <a:spcPts val="0"/>
              </a:spcAft>
              <a:buSzPts val="1400"/>
              <a:buFont typeface="Rajdhani"/>
              <a:buNone/>
              <a:defRPr sz="1400" b="1">
                <a:latin typeface="Rajdhani"/>
                <a:ea typeface="Rajdhani"/>
                <a:cs typeface="Rajdhani"/>
                <a:sym typeface="Rajdhani"/>
              </a:defRPr>
            </a:lvl5pPr>
            <a:lvl6pPr lvl="5" algn="ctr" rtl="0">
              <a:lnSpc>
                <a:spcPct val="100000"/>
              </a:lnSpc>
              <a:spcBef>
                <a:spcPts val="0"/>
              </a:spcBef>
              <a:spcAft>
                <a:spcPts val="0"/>
              </a:spcAft>
              <a:buSzPts val="1400"/>
              <a:buFont typeface="Rajdhani"/>
              <a:buNone/>
              <a:defRPr sz="1400" b="1">
                <a:latin typeface="Rajdhani"/>
                <a:ea typeface="Rajdhani"/>
                <a:cs typeface="Rajdhani"/>
                <a:sym typeface="Rajdhani"/>
              </a:defRPr>
            </a:lvl6pPr>
            <a:lvl7pPr lvl="6" algn="ctr" rtl="0">
              <a:lnSpc>
                <a:spcPct val="100000"/>
              </a:lnSpc>
              <a:spcBef>
                <a:spcPts val="0"/>
              </a:spcBef>
              <a:spcAft>
                <a:spcPts val="0"/>
              </a:spcAft>
              <a:buSzPts val="1400"/>
              <a:buFont typeface="Rajdhani"/>
              <a:buNone/>
              <a:defRPr sz="1400" b="1">
                <a:latin typeface="Rajdhani"/>
                <a:ea typeface="Rajdhani"/>
                <a:cs typeface="Rajdhani"/>
                <a:sym typeface="Rajdhani"/>
              </a:defRPr>
            </a:lvl7pPr>
            <a:lvl8pPr lvl="7" algn="ctr" rtl="0">
              <a:lnSpc>
                <a:spcPct val="100000"/>
              </a:lnSpc>
              <a:spcBef>
                <a:spcPts val="0"/>
              </a:spcBef>
              <a:spcAft>
                <a:spcPts val="0"/>
              </a:spcAft>
              <a:buSzPts val="1400"/>
              <a:buFont typeface="Rajdhani"/>
              <a:buNone/>
              <a:defRPr sz="1400" b="1">
                <a:latin typeface="Rajdhani"/>
                <a:ea typeface="Rajdhani"/>
                <a:cs typeface="Rajdhani"/>
                <a:sym typeface="Rajdhani"/>
              </a:defRPr>
            </a:lvl8pPr>
            <a:lvl9pPr lvl="8" algn="ctr" rtl="0">
              <a:lnSpc>
                <a:spcPct val="100000"/>
              </a:lnSpc>
              <a:spcBef>
                <a:spcPts val="0"/>
              </a:spcBef>
              <a:spcAft>
                <a:spcPts val="0"/>
              </a:spcAft>
              <a:buSzPts val="1400"/>
              <a:buFont typeface="Rajdhani"/>
              <a:buNone/>
              <a:defRPr sz="1400" b="1">
                <a:latin typeface="Rajdhani"/>
                <a:ea typeface="Rajdhani"/>
                <a:cs typeface="Rajdhani"/>
                <a:sym typeface="Rajdhani"/>
              </a:defRPr>
            </a:lvl9pPr>
          </a:lstStyle>
          <a:p>
            <a:endParaRPr/>
          </a:p>
        </p:txBody>
      </p:sp>
      <p:sp>
        <p:nvSpPr>
          <p:cNvPr id="24" name="Google Shape;24;p5"/>
          <p:cNvSpPr txBox="1">
            <a:spLocks noGrp="1"/>
          </p:cNvSpPr>
          <p:nvPr>
            <p:ph type="subTitle" idx="4"/>
          </p:nvPr>
        </p:nvSpPr>
        <p:spPr>
          <a:xfrm flipH="1">
            <a:off x="1353800" y="3229525"/>
            <a:ext cx="2711100" cy="73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Font typeface="Fira Sans Condensed"/>
              <a:buNone/>
              <a:defRPr sz="1400">
                <a:latin typeface="Fira Sans Condensed"/>
                <a:ea typeface="Fira Sans Condensed"/>
                <a:cs typeface="Fira Sans Condensed"/>
                <a:sym typeface="Fira Sans Condensed"/>
              </a:defRPr>
            </a:lvl1pPr>
            <a:lvl2pPr lvl="1"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2pPr>
            <a:lvl3pPr lvl="2"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3pPr>
            <a:lvl4pPr lvl="3"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4pPr>
            <a:lvl5pPr lvl="4"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5pPr>
            <a:lvl6pPr lvl="5"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6pPr>
            <a:lvl7pPr lvl="6"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7pPr>
            <a:lvl8pPr lvl="7"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8pPr>
            <a:lvl9pPr lvl="8" algn="ctr" rtl="0">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9pPr>
          </a:lstStyle>
          <a:p>
            <a:endParaRPr/>
          </a:p>
        </p:txBody>
      </p:sp>
      <p:sp>
        <p:nvSpPr>
          <p:cNvPr id="25" name="Google Shape;25;p5"/>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pic>
        <p:nvPicPr>
          <p:cNvPr id="27" name="Google Shape;27;p6"/>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28" name="Google Shape;28;p6"/>
          <p:cNvSpPr txBox="1">
            <a:spLocks noGrp="1"/>
          </p:cNvSpPr>
          <p:nvPr>
            <p:ph type="title"/>
          </p:nvPr>
        </p:nvSpPr>
        <p:spPr>
          <a:xfrm>
            <a:off x="7201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dk1"/>
        </a:solidFill>
        <a:effectLst/>
      </p:bgPr>
    </p:bg>
    <p:spTree>
      <p:nvGrpSpPr>
        <p:cNvPr id="1" name="Shape 29"/>
        <p:cNvGrpSpPr/>
        <p:nvPr/>
      </p:nvGrpSpPr>
      <p:grpSpPr>
        <a:xfrm>
          <a:off x="0" y="0"/>
          <a:ext cx="0" cy="0"/>
          <a:chOff x="0" y="0"/>
          <a:chExt cx="0" cy="0"/>
        </a:xfrm>
      </p:grpSpPr>
      <p:pic>
        <p:nvPicPr>
          <p:cNvPr id="30" name="Google Shape;30;p7"/>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31" name="Google Shape;31;p7"/>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Font typeface="Fira Sans Condensed"/>
              <a:buNone/>
              <a:defRPr sz="1400">
                <a:latin typeface="Fira Sans Condensed"/>
                <a:ea typeface="Fira Sans Condensed"/>
                <a:cs typeface="Fira Sans Condensed"/>
                <a:sym typeface="Fira Sans Condensed"/>
              </a:defRPr>
            </a:lvl1pPr>
            <a:lvl2pPr lvl="1"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2pPr>
            <a:lvl3pPr lvl="2"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3pPr>
            <a:lvl4pPr lvl="3"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4pPr>
            <a:lvl5pPr lvl="4"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5pPr>
            <a:lvl6pPr lvl="5"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6pPr>
            <a:lvl7pPr lvl="6"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7pPr>
            <a:lvl8pPr lvl="7"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8pPr>
            <a:lvl9pPr lvl="8" algn="ctr" rtl="0">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9pPr>
          </a:lstStyle>
          <a:p>
            <a:endParaRPr/>
          </a:p>
        </p:txBody>
      </p:sp>
      <p:sp>
        <p:nvSpPr>
          <p:cNvPr id="32" name="Google Shape;32;p7"/>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33"/>
        <p:cNvGrpSpPr/>
        <p:nvPr/>
      </p:nvGrpSpPr>
      <p:grpSpPr>
        <a:xfrm>
          <a:off x="0" y="0"/>
          <a:ext cx="0" cy="0"/>
          <a:chOff x="0" y="0"/>
          <a:chExt cx="0" cy="0"/>
        </a:xfrm>
      </p:grpSpPr>
      <p:pic>
        <p:nvPicPr>
          <p:cNvPr id="34" name="Google Shape;34;p8"/>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35" name="Google Shape;35;p8"/>
          <p:cNvSpPr txBox="1">
            <a:spLocks noGrp="1"/>
          </p:cNvSpPr>
          <p:nvPr>
            <p:ph type="title"/>
          </p:nvPr>
        </p:nvSpPr>
        <p:spPr>
          <a:xfrm>
            <a:off x="2422250" y="1418700"/>
            <a:ext cx="4299600" cy="23061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1"/>
        </a:solidFill>
        <a:effectLst/>
      </p:bgPr>
    </p:bg>
    <p:spTree>
      <p:nvGrpSpPr>
        <p:cNvPr id="1" name="Shape 36"/>
        <p:cNvGrpSpPr/>
        <p:nvPr/>
      </p:nvGrpSpPr>
      <p:grpSpPr>
        <a:xfrm>
          <a:off x="0" y="0"/>
          <a:ext cx="0" cy="0"/>
          <a:chOff x="0" y="0"/>
          <a:chExt cx="0" cy="0"/>
        </a:xfrm>
      </p:grpSpPr>
      <p:pic>
        <p:nvPicPr>
          <p:cNvPr id="37" name="Google Shape;37;p9"/>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38" name="Google Shape;38;p9"/>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 name="Google Shape;39;p9"/>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0" name="Google Shape;40;p9"/>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dk1"/>
        </a:solidFill>
        <a:effectLst/>
      </p:bgPr>
    </p:bg>
    <p:spTree>
      <p:nvGrpSpPr>
        <p:cNvPr id="1" name="Shape 41"/>
        <p:cNvGrpSpPr/>
        <p:nvPr/>
      </p:nvGrpSpPr>
      <p:grpSpPr>
        <a:xfrm>
          <a:off x="0" y="0"/>
          <a:ext cx="0" cy="0"/>
          <a:chOff x="0" y="0"/>
          <a:chExt cx="0" cy="0"/>
        </a:xfrm>
      </p:grpSpPr>
      <p:pic>
        <p:nvPicPr>
          <p:cNvPr id="42" name="Google Shape;42;p10"/>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43" name="Google Shape;43;p10"/>
          <p:cNvSpPr txBox="1">
            <a:spLocks noGrp="1"/>
          </p:cNvSpPr>
          <p:nvPr>
            <p:ph type="title"/>
          </p:nvPr>
        </p:nvSpPr>
        <p:spPr>
          <a:xfrm>
            <a:off x="720100" y="1706850"/>
            <a:ext cx="2759700" cy="1729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45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pic>
        <p:nvPicPr>
          <p:cNvPr id="45" name="Google Shape;45;p11"/>
          <p:cNvPicPr preferRelativeResize="0"/>
          <p:nvPr/>
        </p:nvPicPr>
        <p:blipFill rotWithShape="1">
          <a:blip r:embed="rId2">
            <a:alphaModFix/>
          </a:blip>
          <a:srcRect/>
          <a:stretch/>
        </p:blipFill>
        <p:spPr>
          <a:xfrm>
            <a:off x="0" y="1339"/>
            <a:ext cx="9143998" cy="5140822"/>
          </a:xfrm>
          <a:prstGeom prst="rect">
            <a:avLst/>
          </a:prstGeom>
          <a:noFill/>
          <a:ln>
            <a:noFill/>
          </a:ln>
        </p:spPr>
      </p:pic>
      <p:sp>
        <p:nvSpPr>
          <p:cNvPr id="46" name="Google Shape;46;p11"/>
          <p:cNvSpPr txBox="1">
            <a:spLocks noGrp="1"/>
          </p:cNvSpPr>
          <p:nvPr>
            <p:ph type="title" hasCustomPrompt="1"/>
          </p:nvPr>
        </p:nvSpPr>
        <p:spPr>
          <a:xfrm>
            <a:off x="311700" y="2062500"/>
            <a:ext cx="8520600" cy="1110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2000"/>
              <a:buNone/>
              <a:defRPr sz="72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a:spLocks noGrp="1"/>
          </p:cNvSpPr>
          <p:nvPr>
            <p:ph type="body" idx="1"/>
          </p:nvPr>
        </p:nvSpPr>
        <p:spPr>
          <a:xfrm>
            <a:off x="311700" y="3255700"/>
            <a:ext cx="8520600" cy="5154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Font typeface="Fira Sans Condensed"/>
              <a:buChar char="●"/>
              <a:defRPr sz="1400">
                <a:latin typeface="Fira Sans Condensed"/>
                <a:ea typeface="Fira Sans Condensed"/>
                <a:cs typeface="Fira Sans Condensed"/>
                <a:sym typeface="Fira Sans Condensed"/>
              </a:defRPr>
            </a:lvl1pPr>
            <a:lvl2pPr marL="914400" lvl="1"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2pPr>
            <a:lvl3pPr marL="1371600" lvl="2"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3pPr>
            <a:lvl4pPr marL="1828800" lvl="3"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4pPr>
            <a:lvl5pPr marL="2286000" lvl="4"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5pPr>
            <a:lvl6pPr marL="2743200" lvl="5"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6pPr>
            <a:lvl7pPr marL="3200400" lvl="6"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7pPr>
            <a:lvl8pPr marL="3657600" lvl="7"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8pPr>
            <a:lvl9pPr marL="4114800" lvl="8" indent="-30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1pPr>
            <a:lvl2pPr lvl="1">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2pPr>
            <a:lvl3pPr lvl="2">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3pPr>
            <a:lvl4pPr lvl="3">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4pPr>
            <a:lvl5pPr lvl="4">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5pPr>
            <a:lvl6pPr lvl="5">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6pPr>
            <a:lvl7pPr lvl="6">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7pPr>
            <a:lvl8pPr lvl="7">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8pPr>
            <a:lvl9pPr lvl="8">
              <a:spcBef>
                <a:spcPts val="0"/>
              </a:spcBef>
              <a:spcAft>
                <a:spcPts val="0"/>
              </a:spcAft>
              <a:buClr>
                <a:schemeClr val="lt2"/>
              </a:buClr>
              <a:buSzPts val="2800"/>
              <a:buFont typeface="Rajdhani"/>
              <a:buNone/>
              <a:defRPr sz="2800" b="1">
                <a:solidFill>
                  <a:schemeClr val="lt2"/>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1pPr>
            <a:lvl2pPr marL="914400" lvl="1"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2pPr>
            <a:lvl3pPr marL="1371600" lvl="2"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3pPr>
            <a:lvl4pPr marL="1828800" lvl="3"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4pPr>
            <a:lvl5pPr marL="2286000" lvl="4"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5pPr>
            <a:lvl6pPr marL="2743200" lvl="5"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6pPr>
            <a:lvl7pPr marL="3200400" lvl="6"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7pPr>
            <a:lvl8pPr marL="3657600" lvl="7"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8pPr>
            <a:lvl9pPr marL="4114800" lvl="8" indent="-30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2880">
          <p15:clr>
            <a:srgbClr val="EA4335"/>
          </p15:clr>
        </p15:guide>
        <p15:guide id="3" pos="5311">
          <p15:clr>
            <a:srgbClr val="EA4335"/>
          </p15:clr>
        </p15:guide>
        <p15:guide id="4" orient="horz" pos="340">
          <p15:clr>
            <a:srgbClr val="EA4335"/>
          </p15:clr>
        </p15:guide>
        <p15:guide id="5" orient="horz" pos="2903">
          <p15:clr>
            <a:srgbClr val="EA4335"/>
          </p15:clr>
        </p15:guide>
        <p15:guide id="6" orient="horz" pos="1620">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6"/>
        <p:cNvGrpSpPr/>
        <p:nvPr/>
      </p:nvGrpSpPr>
      <p:grpSpPr>
        <a:xfrm>
          <a:off x="0" y="0"/>
          <a:ext cx="0" cy="0"/>
          <a:chOff x="0" y="0"/>
          <a:chExt cx="0" cy="0"/>
        </a:xfrm>
      </p:grpSpPr>
      <p:sp>
        <p:nvSpPr>
          <p:cNvPr id="11" name="Rectangle 10"/>
          <p:cNvSpPr/>
          <p:nvPr/>
        </p:nvSpPr>
        <p:spPr>
          <a:xfrm>
            <a:off x="123824" y="607219"/>
            <a:ext cx="5514975" cy="2523768"/>
          </a:xfrm>
          <a:prstGeom prst="rect">
            <a:avLst/>
          </a:prstGeom>
        </p:spPr>
        <p:txBody>
          <a:bodyPr wrap="square">
            <a:spAutoFit/>
          </a:bodyPr>
          <a:lstStyle/>
          <a:p>
            <a:pPr algn="ctr"/>
            <a:r>
              <a:rPr lang="en-US" sz="1800" b="1" dirty="0">
                <a:solidFill>
                  <a:schemeClr val="tx2"/>
                </a:solidFill>
              </a:rPr>
              <a:t>  </a:t>
            </a:r>
            <a:r>
              <a:rPr lang="en-US" sz="1800" b="1" dirty="0">
                <a:solidFill>
                  <a:srgbClr val="FFFF00"/>
                </a:solidFill>
                <a:effectLst>
                  <a:outerShdw blurRad="38100" dist="38100" dir="2700000" algn="tl">
                    <a:srgbClr val="000000">
                      <a:alpha val="43137"/>
                    </a:srgbClr>
                  </a:outerShdw>
                </a:effectLst>
              </a:rPr>
              <a:t>Team Members names:-</a:t>
            </a:r>
            <a:r>
              <a:rPr lang="en-US" sz="1800" b="1" dirty="0">
                <a:solidFill>
                  <a:schemeClr val="tx2"/>
                </a:solidFill>
              </a:rPr>
              <a:t> </a:t>
            </a:r>
            <a:endParaRPr lang="en-US" sz="1800" dirty="0">
              <a:solidFill>
                <a:schemeClr val="tx2"/>
              </a:solidFill>
            </a:endParaRPr>
          </a:p>
          <a:p>
            <a:r>
              <a:rPr lang="en-US" b="1" dirty="0">
                <a:solidFill>
                  <a:schemeClr val="tx2"/>
                </a:solidFill>
              </a:rPr>
              <a:t>Soumya Deep Saha</a:t>
            </a:r>
            <a:endParaRPr lang="en-US" dirty="0">
              <a:solidFill>
                <a:schemeClr val="tx2"/>
              </a:solidFill>
            </a:endParaRPr>
          </a:p>
          <a:p>
            <a:r>
              <a:rPr lang="en-US" b="1" dirty="0">
                <a:solidFill>
                  <a:schemeClr val="tx2"/>
                </a:solidFill>
              </a:rPr>
              <a:t>                    Roll no:- 31101221028</a:t>
            </a:r>
            <a:endParaRPr lang="en-US" dirty="0">
              <a:solidFill>
                <a:schemeClr val="tx2"/>
              </a:solidFill>
            </a:endParaRPr>
          </a:p>
          <a:p>
            <a:r>
              <a:rPr lang="en-US" b="1" dirty="0">
                <a:solidFill>
                  <a:schemeClr val="tx2"/>
                </a:solidFill>
              </a:rPr>
              <a:t>Ishita Sen                        </a:t>
            </a:r>
            <a:endParaRPr lang="en-US" dirty="0">
              <a:solidFill>
                <a:schemeClr val="tx2"/>
              </a:solidFill>
            </a:endParaRPr>
          </a:p>
          <a:p>
            <a:r>
              <a:rPr lang="en-US" b="1" dirty="0">
                <a:solidFill>
                  <a:schemeClr val="tx2"/>
                </a:solidFill>
              </a:rPr>
              <a:t>	Roll no:- 31101221011</a:t>
            </a:r>
            <a:endParaRPr lang="en-US" dirty="0">
              <a:solidFill>
                <a:schemeClr val="tx2"/>
              </a:solidFill>
            </a:endParaRPr>
          </a:p>
          <a:p>
            <a:r>
              <a:rPr lang="en-US" b="1" dirty="0">
                <a:solidFill>
                  <a:schemeClr val="tx2"/>
                </a:solidFill>
              </a:rPr>
              <a:t>Sutanu Mukharjee                        </a:t>
            </a:r>
            <a:endParaRPr lang="en-US" dirty="0">
              <a:solidFill>
                <a:schemeClr val="tx2"/>
              </a:solidFill>
            </a:endParaRPr>
          </a:p>
          <a:p>
            <a:r>
              <a:rPr lang="en-US" b="1" dirty="0">
                <a:solidFill>
                  <a:schemeClr val="tx2"/>
                </a:solidFill>
              </a:rPr>
              <a:t>	Roll no:- 31101221001</a:t>
            </a:r>
            <a:endParaRPr lang="en-US" dirty="0">
              <a:solidFill>
                <a:schemeClr val="tx2"/>
              </a:solidFill>
            </a:endParaRPr>
          </a:p>
          <a:p>
            <a:r>
              <a:rPr lang="en-US" b="1" dirty="0">
                <a:solidFill>
                  <a:schemeClr val="tx2"/>
                </a:solidFill>
              </a:rPr>
              <a:t>Shrestha Saha</a:t>
            </a:r>
            <a:endParaRPr lang="en-US" dirty="0">
              <a:solidFill>
                <a:schemeClr val="tx2"/>
              </a:solidFill>
            </a:endParaRPr>
          </a:p>
          <a:p>
            <a:r>
              <a:rPr lang="en-US" b="1" dirty="0">
                <a:solidFill>
                  <a:schemeClr val="tx2"/>
                </a:solidFill>
              </a:rPr>
              <a:t>                    Roll no:- 31101221044</a:t>
            </a:r>
            <a:endParaRPr lang="en-US" dirty="0">
              <a:solidFill>
                <a:schemeClr val="tx2"/>
              </a:solidFill>
            </a:endParaRPr>
          </a:p>
          <a:p>
            <a:pPr algn="ctr"/>
            <a:br>
              <a:rPr lang="en-US" dirty="0">
                <a:solidFill>
                  <a:schemeClr val="tx2"/>
                </a:solidFill>
              </a:rPr>
            </a:br>
            <a:endParaRPr lang="en-US" dirty="0">
              <a:solidFill>
                <a:schemeClr val="tx2"/>
              </a:solidFill>
            </a:endParaRPr>
          </a:p>
        </p:txBody>
      </p:sp>
      <p:sp>
        <p:nvSpPr>
          <p:cNvPr id="12" name="Rectangle 11"/>
          <p:cNvSpPr/>
          <p:nvPr/>
        </p:nvSpPr>
        <p:spPr>
          <a:xfrm>
            <a:off x="219075" y="-38100"/>
            <a:ext cx="8686800" cy="1569660"/>
          </a:xfrm>
          <a:prstGeom prst="rect">
            <a:avLst/>
          </a:prstGeom>
        </p:spPr>
        <p:txBody>
          <a:bodyPr wrap="square">
            <a:spAutoFit/>
          </a:bodyPr>
          <a:lstStyle/>
          <a:p>
            <a:pPr algn="ctr"/>
            <a:r>
              <a:rPr lang="en-US" sz="3200" b="1" dirty="0">
                <a:solidFill>
                  <a:srgbClr val="FFFF00"/>
                </a:solidFill>
              </a:rPr>
              <a:t>Project name</a:t>
            </a:r>
          </a:p>
          <a:p>
            <a:pPr algn="ctr"/>
            <a:br>
              <a:rPr lang="en-US" sz="3200" b="1" dirty="0">
                <a:solidFill>
                  <a:srgbClr val="FFFF00"/>
                </a:solidFill>
              </a:rPr>
            </a:br>
            <a:endParaRPr lang="en-US" sz="3200" b="1" dirty="0">
              <a:solidFill>
                <a:srgbClr val="FFFF00"/>
              </a:solidFill>
            </a:endParaRPr>
          </a:p>
        </p:txBody>
      </p:sp>
      <p:sp>
        <p:nvSpPr>
          <p:cNvPr id="13" name="Rectangle 12"/>
          <p:cNvSpPr/>
          <p:nvPr/>
        </p:nvSpPr>
        <p:spPr>
          <a:xfrm>
            <a:off x="4657725" y="701100"/>
            <a:ext cx="4572000" cy="1938992"/>
          </a:xfrm>
          <a:prstGeom prst="rect">
            <a:avLst/>
          </a:prstGeom>
        </p:spPr>
        <p:txBody>
          <a:bodyPr>
            <a:spAutoFit/>
          </a:bodyPr>
          <a:lstStyle/>
          <a:p>
            <a:pPr algn="ctr"/>
            <a:r>
              <a:rPr lang="en-US" sz="2000" b="1" dirty="0">
                <a:solidFill>
                  <a:srgbClr val="FFFF00"/>
                </a:solidFill>
              </a:rPr>
              <a:t>Guide names:- </a:t>
            </a:r>
          </a:p>
          <a:p>
            <a:r>
              <a:rPr lang="en-US" sz="2000" dirty="0">
                <a:solidFill>
                  <a:schemeClr val="tx2"/>
                </a:solidFill>
              </a:rPr>
              <a:t>Ananjan </a:t>
            </a:r>
            <a:r>
              <a:rPr lang="en-US" sz="2000" dirty="0" err="1">
                <a:solidFill>
                  <a:schemeClr val="tx2"/>
                </a:solidFill>
              </a:rPr>
              <a:t>Maity</a:t>
            </a:r>
            <a:endParaRPr lang="en-US" sz="2000" dirty="0">
              <a:solidFill>
                <a:schemeClr val="tx2"/>
              </a:solidFill>
            </a:endParaRPr>
          </a:p>
          <a:p>
            <a:endParaRPr lang="en-US" sz="2000" dirty="0">
              <a:solidFill>
                <a:schemeClr val="tx2"/>
              </a:solidFill>
            </a:endParaRPr>
          </a:p>
          <a:p>
            <a:r>
              <a:rPr lang="en-US" sz="2000" dirty="0" err="1">
                <a:solidFill>
                  <a:schemeClr val="tx2"/>
                </a:solidFill>
              </a:rPr>
              <a:t>Chiranjib</a:t>
            </a:r>
            <a:r>
              <a:rPr lang="en-US" sz="2000" dirty="0">
                <a:solidFill>
                  <a:schemeClr val="tx2"/>
                </a:solidFill>
              </a:rPr>
              <a:t> Dutta</a:t>
            </a:r>
          </a:p>
          <a:p>
            <a:br>
              <a:rPr lang="en-US" sz="2000" dirty="0">
                <a:solidFill>
                  <a:schemeClr val="tx2"/>
                </a:solidFill>
              </a:rPr>
            </a:br>
            <a:endParaRPr lang="en-US" sz="2000" dirty="0">
              <a:solidFill>
                <a:schemeClr val="tx2"/>
              </a:solidFill>
            </a:endParaRPr>
          </a:p>
        </p:txBody>
      </p:sp>
      <p:sp>
        <p:nvSpPr>
          <p:cNvPr id="14" name="Rectangle 13"/>
          <p:cNvSpPr/>
          <p:nvPr/>
        </p:nvSpPr>
        <p:spPr>
          <a:xfrm>
            <a:off x="200026" y="3066247"/>
            <a:ext cx="8734424" cy="892552"/>
          </a:xfrm>
          <a:prstGeom prst="rect">
            <a:avLst/>
          </a:prstGeom>
        </p:spPr>
        <p:txBody>
          <a:bodyPr wrap="square">
            <a:spAutoFit/>
          </a:bodyPr>
          <a:lstStyle/>
          <a:p>
            <a:pPr algn="ctr"/>
            <a:r>
              <a:rPr lang="en-US" sz="2000" b="1" dirty="0">
                <a:solidFill>
                  <a:schemeClr val="tx2"/>
                </a:solidFill>
              </a:rPr>
              <a:t>Course/Department :-  </a:t>
            </a:r>
            <a:r>
              <a:rPr lang="en-US" sz="2000" b="1" dirty="0">
                <a:solidFill>
                  <a:schemeClr val="accent2">
                    <a:lumMod val="60000"/>
                    <a:lumOff val="40000"/>
                  </a:schemeClr>
                </a:solidFill>
              </a:rPr>
              <a:t>BCA [Bachelor of Computer Application]</a:t>
            </a:r>
          </a:p>
          <a:p>
            <a:pPr algn="ctr"/>
            <a:br>
              <a:rPr lang="en-US" sz="1600" dirty="0">
                <a:solidFill>
                  <a:schemeClr val="tx2"/>
                </a:solidFill>
              </a:rPr>
            </a:br>
            <a:endParaRPr lang="en-US" sz="1600" dirty="0">
              <a:solidFill>
                <a:schemeClr val="tx2"/>
              </a:solidFill>
            </a:endParaRPr>
          </a:p>
        </p:txBody>
      </p:sp>
      <p:sp>
        <p:nvSpPr>
          <p:cNvPr id="15" name="Rectangle 14"/>
          <p:cNvSpPr/>
          <p:nvPr/>
        </p:nvSpPr>
        <p:spPr>
          <a:xfrm>
            <a:off x="219075" y="3654534"/>
            <a:ext cx="8801099" cy="1954381"/>
          </a:xfrm>
          <a:prstGeom prst="rect">
            <a:avLst/>
          </a:prstGeom>
        </p:spPr>
        <p:txBody>
          <a:bodyPr wrap="square">
            <a:spAutoFit/>
          </a:bodyPr>
          <a:lstStyle/>
          <a:p>
            <a:pPr algn="ctr"/>
            <a:r>
              <a:rPr lang="en-US" sz="2000" b="1" dirty="0">
                <a:solidFill>
                  <a:schemeClr val="tx2"/>
                </a:solidFill>
              </a:rPr>
              <a:t>College Name : </a:t>
            </a:r>
            <a:r>
              <a:rPr lang="en-US" sz="2000" b="1" dirty="0">
                <a:solidFill>
                  <a:schemeClr val="accent2">
                    <a:lumMod val="60000"/>
                    <a:lumOff val="40000"/>
                  </a:schemeClr>
                </a:solidFill>
              </a:rPr>
              <a:t>Gurunanak Institute of Technology </a:t>
            </a:r>
            <a:endParaRPr lang="en-US" sz="2000" dirty="0">
              <a:solidFill>
                <a:schemeClr val="accent2">
                  <a:lumMod val="60000"/>
                  <a:lumOff val="40000"/>
                </a:schemeClr>
              </a:solidFill>
            </a:endParaRPr>
          </a:p>
          <a:p>
            <a:pPr algn="ctr"/>
            <a:br>
              <a:rPr lang="en-US" sz="2000" dirty="0">
                <a:solidFill>
                  <a:schemeClr val="tx2"/>
                </a:solidFill>
              </a:rPr>
            </a:br>
            <a:r>
              <a:rPr lang="en-US" sz="2000" b="1" dirty="0">
                <a:solidFill>
                  <a:schemeClr val="tx2"/>
                </a:solidFill>
              </a:rPr>
              <a:t>University Name : </a:t>
            </a:r>
            <a:r>
              <a:rPr lang="en-US" sz="2000" b="1" dirty="0">
                <a:solidFill>
                  <a:schemeClr val="accent2">
                    <a:lumMod val="60000"/>
                    <a:lumOff val="40000"/>
                  </a:schemeClr>
                </a:solidFill>
              </a:rPr>
              <a:t>Maulana Abul Kalam Azad University of Technology</a:t>
            </a:r>
            <a:endParaRPr lang="en-US" sz="2000" dirty="0">
              <a:solidFill>
                <a:schemeClr val="accent2">
                  <a:lumMod val="60000"/>
                  <a:lumOff val="40000"/>
                </a:schemeClr>
              </a:solidFill>
            </a:endParaRPr>
          </a:p>
          <a:p>
            <a:br>
              <a:rPr lang="en-US" sz="1100" dirty="0">
                <a:solidFill>
                  <a:schemeClr val="tx2"/>
                </a:solidFill>
              </a:rPr>
            </a:br>
            <a:endParaRPr lang="en-US" sz="1100" dirty="0">
              <a:solidFill>
                <a:schemeClr val="tx2"/>
              </a:solidFill>
            </a:endParaRPr>
          </a:p>
          <a:p>
            <a:r>
              <a:rPr lang="en-US" sz="1100" b="1" dirty="0">
                <a:solidFill>
                  <a:schemeClr val="tx2"/>
                </a:solidFill>
              </a:rPr>
              <a:t>Date of Presentation : </a:t>
            </a:r>
            <a:r>
              <a:rPr lang="en-US" sz="1100" b="1" dirty="0">
                <a:solidFill>
                  <a:schemeClr val="accent2">
                    <a:lumMod val="60000"/>
                    <a:lumOff val="40000"/>
                  </a:schemeClr>
                </a:solidFill>
              </a:rPr>
              <a:t>Wednesday,6 December 2023</a:t>
            </a:r>
            <a:endParaRPr lang="en-US" sz="1100" dirty="0">
              <a:solidFill>
                <a:schemeClr val="accent2">
                  <a:lumMod val="60000"/>
                  <a:lumOff val="40000"/>
                </a:schemeClr>
              </a:solidFill>
            </a:endParaRPr>
          </a:p>
          <a:p>
            <a:pPr algn="ctr"/>
            <a:br>
              <a:rPr lang="en-US" dirty="0">
                <a:solidFill>
                  <a:schemeClr val="tx2"/>
                </a:solidFill>
              </a:rPr>
            </a:br>
            <a:endParaRPr lang="en-US" dirty="0">
              <a:solidFill>
                <a:schemeClr val="tx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
        <p:cNvGrpSpPr/>
        <p:nvPr/>
      </p:nvGrpSpPr>
      <p:grpSpPr>
        <a:xfrm>
          <a:off x="0" y="0"/>
          <a:ext cx="0" cy="0"/>
          <a:chOff x="0" y="0"/>
          <a:chExt cx="0" cy="0"/>
        </a:xfrm>
      </p:grpSpPr>
      <p:sp>
        <p:nvSpPr>
          <p:cNvPr id="64" name="Google Shape;64;p16"/>
          <p:cNvSpPr txBox="1">
            <a:spLocks noGrp="1"/>
          </p:cNvSpPr>
          <p:nvPr>
            <p:ph type="title"/>
          </p:nvPr>
        </p:nvSpPr>
        <p:spPr>
          <a:xfrm>
            <a:off x="748674" y="-89151"/>
            <a:ext cx="7709525" cy="70827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3600" dirty="0">
                <a:solidFill>
                  <a:srgbClr val="FFFF00"/>
                </a:solidFill>
                <a:latin typeface="Segoe UI Black" pitchFamily="34" charset="0"/>
                <a:ea typeface="Segoe UI Black" pitchFamily="34" charset="0"/>
              </a:rPr>
              <a:t>Introduction</a:t>
            </a:r>
            <a:endParaRPr sz="3600">
              <a:solidFill>
                <a:srgbClr val="FFFF00"/>
              </a:solidFill>
              <a:latin typeface="Segoe UI Black" pitchFamily="34" charset="0"/>
              <a:ea typeface="Segoe UI Black" pitchFamily="34" charset="0"/>
            </a:endParaRPr>
          </a:p>
        </p:txBody>
      </p:sp>
      <p:sp>
        <p:nvSpPr>
          <p:cNvPr id="5" name="Rectangle 4"/>
          <p:cNvSpPr/>
          <p:nvPr/>
        </p:nvSpPr>
        <p:spPr>
          <a:xfrm>
            <a:off x="247650" y="652582"/>
            <a:ext cx="8667750" cy="2031325"/>
          </a:xfrm>
          <a:prstGeom prst="rect">
            <a:avLst/>
          </a:prstGeom>
        </p:spPr>
        <p:txBody>
          <a:bodyPr wrap="square">
            <a:spAutoFit/>
          </a:bodyPr>
          <a:lstStyle/>
          <a:p>
            <a:r>
              <a:rPr lang="en-US" dirty="0">
                <a:solidFill>
                  <a:schemeClr val="accent4"/>
                </a:solidFill>
              </a:rPr>
              <a:t>Welcome to Face Guardian, an innovative project at the forefront of real-time facial analysis and attendance tracking. Face Guardian is designed to bring advanced face recognition and comprehensive facial feature analysis to the forefront.</a:t>
            </a:r>
          </a:p>
          <a:p>
            <a:endParaRPr lang="en-US" dirty="0">
              <a:solidFill>
                <a:schemeClr val="accent4"/>
              </a:solidFill>
            </a:endParaRPr>
          </a:p>
          <a:p>
            <a:r>
              <a:rPr lang="en-US" dirty="0">
                <a:solidFill>
                  <a:schemeClr val="accent4"/>
                </a:solidFill>
              </a:rPr>
              <a:t>In today's dynamic world, the need for efficient attendance tracking and advanced facial analysis has never been greater. Face Guardian is not just a face recognition system; it is a sophisticated tool that goes beyond the basics, providing insights into head movement, eye and mouth states, eyeglasses detection, and even gender prediction. This multi-faceted approach makes Face Guardian a powerful and versatile solution for various applications.</a:t>
            </a:r>
          </a:p>
        </p:txBody>
      </p:sp>
      <p:sp>
        <p:nvSpPr>
          <p:cNvPr id="7" name="Google Shape;64;p16"/>
          <p:cNvSpPr txBox="1">
            <a:spLocks/>
          </p:cNvSpPr>
          <p:nvPr/>
        </p:nvSpPr>
        <p:spPr>
          <a:xfrm>
            <a:off x="323850" y="2463549"/>
            <a:ext cx="8496299" cy="746376"/>
          </a:xfrm>
          <a:prstGeom prst="rect">
            <a:avLst/>
          </a:prstGeom>
          <a:noFill/>
          <a:ln>
            <a:noFill/>
          </a:ln>
        </p:spPr>
        <p:txBody>
          <a:bodyPr spcFirstLastPara="1" wrap="square" lIns="91425" tIns="91425" rIns="91425" bIns="91425" anchor="t" anchorCtr="0">
            <a:noAutofit/>
          </a:bodyPr>
          <a:lstStyle/>
          <a:p>
            <a:pPr algn="ctr"/>
            <a:r>
              <a:rPr lang="en-US" sz="2400" b="1" dirty="0">
                <a:solidFill>
                  <a:schemeClr val="accent4"/>
                </a:solidFill>
                <a:effectLst>
                  <a:outerShdw blurRad="38100" dist="38100" dir="2700000" algn="tl">
                    <a:srgbClr val="000000">
                      <a:alpha val="43137"/>
                    </a:srgbClr>
                  </a:outerShdw>
                </a:effectLst>
              </a:rPr>
              <a:t>Importance of the study</a:t>
            </a:r>
            <a:r>
              <a:rPr lang="en-US" sz="2400" b="1" dirty="0">
                <a:solidFill>
                  <a:schemeClr val="accent4"/>
                </a:solidFill>
              </a:rPr>
              <a:t> </a:t>
            </a:r>
          </a:p>
        </p:txBody>
      </p:sp>
      <p:sp>
        <p:nvSpPr>
          <p:cNvPr id="8" name="Rectangle 7"/>
          <p:cNvSpPr/>
          <p:nvPr/>
        </p:nvSpPr>
        <p:spPr>
          <a:xfrm>
            <a:off x="161924" y="2964895"/>
            <a:ext cx="8677275" cy="1815882"/>
          </a:xfrm>
          <a:prstGeom prst="rect">
            <a:avLst/>
          </a:prstGeom>
        </p:spPr>
        <p:txBody>
          <a:bodyPr wrap="square">
            <a:spAutoFit/>
          </a:bodyPr>
          <a:lstStyle/>
          <a:p>
            <a:r>
              <a:rPr lang="en-US" sz="1600" b="1" dirty="0">
                <a:solidFill>
                  <a:srgbClr val="FF0000"/>
                </a:solidFill>
              </a:rPr>
              <a:t>Efficient Attendance Tracking:</a:t>
            </a:r>
            <a:endParaRPr lang="en-US" sz="1600" dirty="0">
              <a:solidFill>
                <a:srgbClr val="FF0000"/>
              </a:solidFill>
            </a:endParaRPr>
          </a:p>
          <a:p>
            <a:pPr lvl="1"/>
            <a:r>
              <a:rPr lang="en-US" sz="1200" dirty="0">
                <a:solidFill>
                  <a:schemeClr val="accent4"/>
                </a:solidFill>
              </a:rPr>
              <a:t>The project's real-time face recognition and attendance logging capabilities offer a more efficient and accurate alternative to traditional attendance tracking methods. This can significantly streamline processes in educational institutions, businesses, and other settings.</a:t>
            </a:r>
          </a:p>
          <a:p>
            <a:pPr lvl="1"/>
            <a:endParaRPr lang="en-US" sz="1200" dirty="0">
              <a:solidFill>
                <a:schemeClr val="accent4"/>
              </a:solidFill>
            </a:endParaRPr>
          </a:p>
          <a:p>
            <a:r>
              <a:rPr lang="en-US" sz="1200" b="1" dirty="0">
                <a:solidFill>
                  <a:schemeClr val="accent4"/>
                </a:solidFill>
              </a:rPr>
              <a:t>Facial Analysis for Behavioral Insights:</a:t>
            </a:r>
            <a:endParaRPr lang="en-US" sz="1200" dirty="0">
              <a:solidFill>
                <a:schemeClr val="accent4"/>
              </a:solidFill>
            </a:endParaRPr>
          </a:p>
          <a:p>
            <a:pPr lvl="1"/>
            <a:r>
              <a:rPr lang="en-US" sz="1200" dirty="0">
                <a:solidFill>
                  <a:schemeClr val="accent4"/>
                </a:solidFill>
              </a:rPr>
              <a:t>The comprehensive facial feature analysis, including head movement, eye states, mouth states, and gender prediction, provides valuable behavioral insights. This can be applied in areas such as human-computer interaction, user experience research, and even security applications.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748675" y="110875"/>
            <a:ext cx="7704000" cy="572700"/>
          </a:xfrm>
          <a:prstGeom prst="rect">
            <a:avLst/>
          </a:prstGeom>
        </p:spPr>
        <p:txBody>
          <a:bodyPr spcFirstLastPara="1" wrap="square" lIns="91425" tIns="91425" rIns="91425" bIns="91425" anchor="t" anchorCtr="0">
            <a:noAutofit/>
          </a:bodyPr>
          <a:lstStyle/>
          <a:p>
            <a:pPr lvl="0"/>
            <a:r>
              <a:rPr lang="en-US" sz="2400" dirty="0"/>
              <a:t>Objectives of the project</a:t>
            </a:r>
            <a:endParaRPr sz="2400"/>
          </a:p>
        </p:txBody>
      </p:sp>
      <p:sp>
        <p:nvSpPr>
          <p:cNvPr id="19" name="Rectangle 18"/>
          <p:cNvSpPr/>
          <p:nvPr/>
        </p:nvSpPr>
        <p:spPr>
          <a:xfrm>
            <a:off x="333375" y="640795"/>
            <a:ext cx="8572500" cy="2123658"/>
          </a:xfrm>
          <a:prstGeom prst="rect">
            <a:avLst/>
          </a:prstGeom>
        </p:spPr>
        <p:txBody>
          <a:bodyPr wrap="square">
            <a:spAutoFit/>
          </a:bodyPr>
          <a:lstStyle/>
          <a:p>
            <a:r>
              <a:rPr lang="en-US" sz="1200" b="1" dirty="0">
                <a:solidFill>
                  <a:srgbClr val="FF0000"/>
                </a:solidFill>
              </a:rPr>
              <a:t>Implement Real-Time Face Recognition:</a:t>
            </a:r>
            <a:endParaRPr lang="en-US" sz="1200" dirty="0">
              <a:solidFill>
                <a:srgbClr val="FF0000"/>
              </a:solidFill>
            </a:endParaRPr>
          </a:p>
          <a:p>
            <a:pPr lvl="1"/>
            <a:r>
              <a:rPr lang="en-US" sz="1200" dirty="0">
                <a:solidFill>
                  <a:schemeClr val="tx2"/>
                </a:solidFill>
              </a:rPr>
              <a:t>Develop a system capable of real-time face recognition using a webcam feed, allowing for instantaneous identification of individuals.</a:t>
            </a:r>
          </a:p>
          <a:p>
            <a:pPr lvl="1"/>
            <a:endParaRPr lang="en-US" sz="1200" dirty="0">
              <a:solidFill>
                <a:schemeClr val="tx2"/>
              </a:solidFill>
            </a:endParaRPr>
          </a:p>
          <a:p>
            <a:r>
              <a:rPr lang="en-US" sz="1200" b="1" dirty="0">
                <a:solidFill>
                  <a:srgbClr val="FF0000"/>
                </a:solidFill>
              </a:rPr>
              <a:t>Facial Feature Analysis:</a:t>
            </a:r>
            <a:endParaRPr lang="en-US" sz="1200" dirty="0">
              <a:solidFill>
                <a:srgbClr val="FF0000"/>
              </a:solidFill>
            </a:endParaRPr>
          </a:p>
          <a:p>
            <a:pPr lvl="1"/>
            <a:r>
              <a:rPr lang="en-US" sz="1200" dirty="0">
                <a:solidFill>
                  <a:schemeClr val="tx2"/>
                </a:solidFill>
              </a:rPr>
              <a:t>Conduct comprehensive facial feature analysis, including head movement, eye states, mouth states, and eyeglasses detection. Provide detailed insights into the behavioral aspects of the detected faces.</a:t>
            </a:r>
          </a:p>
          <a:p>
            <a:pPr lvl="1"/>
            <a:endParaRPr lang="en-US" sz="1200" dirty="0">
              <a:solidFill>
                <a:schemeClr val="tx2"/>
              </a:solidFill>
            </a:endParaRPr>
          </a:p>
          <a:p>
            <a:r>
              <a:rPr lang="en-US" sz="1200" b="1" dirty="0">
                <a:solidFill>
                  <a:srgbClr val="FF0000"/>
                </a:solidFill>
              </a:rPr>
              <a:t>Gender  Prediction:</a:t>
            </a:r>
            <a:endParaRPr lang="en-US" sz="1200" dirty="0">
              <a:solidFill>
                <a:srgbClr val="FF0000"/>
              </a:solidFill>
            </a:endParaRPr>
          </a:p>
          <a:p>
            <a:pPr lvl="1"/>
            <a:r>
              <a:rPr lang="en-US" sz="1200" dirty="0">
                <a:solidFill>
                  <a:schemeClr val="tx2"/>
                </a:solidFill>
              </a:rPr>
              <a:t>Integrate a gender prediction feature based on the names of detected individuals. Enhance the attendance log with demographic information for a more comprehensive record.</a:t>
            </a:r>
          </a:p>
        </p:txBody>
      </p:sp>
      <p:sp>
        <p:nvSpPr>
          <p:cNvPr id="20" name="Rectangle 19"/>
          <p:cNvSpPr/>
          <p:nvPr/>
        </p:nvSpPr>
        <p:spPr>
          <a:xfrm>
            <a:off x="409575" y="3162866"/>
            <a:ext cx="8286750" cy="1815882"/>
          </a:xfrm>
          <a:prstGeom prst="rect">
            <a:avLst/>
          </a:prstGeom>
        </p:spPr>
        <p:txBody>
          <a:bodyPr wrap="square">
            <a:spAutoFit/>
          </a:bodyPr>
          <a:lstStyle/>
          <a:p>
            <a:r>
              <a:rPr lang="en-US" b="1" dirty="0">
                <a:solidFill>
                  <a:srgbClr val="FF0000"/>
                </a:solidFill>
              </a:rPr>
              <a:t>Job Creation:</a:t>
            </a:r>
            <a:r>
              <a:rPr lang="en-US" dirty="0">
                <a:solidFill>
                  <a:srgbClr val="FF0000"/>
                </a:solidFill>
              </a:rPr>
              <a:t> </a:t>
            </a:r>
            <a:r>
              <a:rPr lang="en-US" dirty="0">
                <a:solidFill>
                  <a:schemeClr val="tx2"/>
                </a:solidFill>
              </a:rPr>
              <a:t>Certain activities, industries, or projects can stimulate job creation, leading to increased employment rates and reduced unemployment.</a:t>
            </a:r>
          </a:p>
          <a:p>
            <a:endParaRPr lang="en-US" dirty="0">
              <a:solidFill>
                <a:schemeClr val="tx2"/>
              </a:solidFill>
            </a:endParaRPr>
          </a:p>
          <a:p>
            <a:r>
              <a:rPr lang="en-US" b="1" dirty="0">
                <a:solidFill>
                  <a:srgbClr val="FF0000"/>
                </a:solidFill>
              </a:rPr>
              <a:t>Income Generation:</a:t>
            </a:r>
            <a:r>
              <a:rPr lang="en-US" dirty="0">
                <a:solidFill>
                  <a:srgbClr val="FF0000"/>
                </a:solidFill>
              </a:rPr>
              <a:t> </a:t>
            </a:r>
            <a:r>
              <a:rPr lang="en-US" dirty="0">
                <a:solidFill>
                  <a:schemeClr val="tx2"/>
                </a:solidFill>
              </a:rPr>
              <a:t>Economic activities contribute to the generation of income for individuals, businesses, and governments, fostering economic growth.</a:t>
            </a:r>
          </a:p>
          <a:p>
            <a:endParaRPr lang="en-US" dirty="0">
              <a:solidFill>
                <a:schemeClr val="tx2"/>
              </a:solidFill>
            </a:endParaRPr>
          </a:p>
          <a:p>
            <a:r>
              <a:rPr lang="en-US" b="1" dirty="0">
                <a:solidFill>
                  <a:srgbClr val="FF0000"/>
                </a:solidFill>
              </a:rPr>
              <a:t>Tax Revenue:</a:t>
            </a:r>
            <a:r>
              <a:rPr lang="en-US" dirty="0">
                <a:solidFill>
                  <a:srgbClr val="FF0000"/>
                </a:solidFill>
              </a:rPr>
              <a:t> </a:t>
            </a:r>
            <a:r>
              <a:rPr lang="en-US" dirty="0">
                <a:solidFill>
                  <a:schemeClr val="tx2"/>
                </a:solidFill>
              </a:rPr>
              <a:t>Economic activities generate tax revenue for governments, which can be used to fund public services, infrastructure, and social programs.</a:t>
            </a:r>
          </a:p>
        </p:txBody>
      </p:sp>
      <p:sp>
        <p:nvSpPr>
          <p:cNvPr id="21" name="Google Shape;70;p17"/>
          <p:cNvSpPr txBox="1">
            <a:spLocks/>
          </p:cNvSpPr>
          <p:nvPr/>
        </p:nvSpPr>
        <p:spPr>
          <a:xfrm>
            <a:off x="758200" y="2673100"/>
            <a:ext cx="7704000" cy="572700"/>
          </a:xfrm>
          <a:prstGeom prst="rect">
            <a:avLst/>
          </a:prstGeom>
          <a:noFill/>
          <a:ln>
            <a:noFill/>
          </a:ln>
        </p:spPr>
        <p:txBody>
          <a:bodyPr spcFirstLastPara="1" wrap="square" lIns="91425" tIns="91425" rIns="91425" bIns="91425" anchor="t" anchorCtr="0">
            <a:noAutofit/>
          </a:bodyPr>
          <a:lstStyle/>
          <a:p>
            <a:pPr lvl="0" algn="ctr">
              <a:buClr>
                <a:schemeClr val="lt2"/>
              </a:buClr>
              <a:buSzPts val="3000"/>
            </a:pPr>
            <a:r>
              <a:rPr lang="en-US" sz="2400" b="1" dirty="0">
                <a:solidFill>
                  <a:schemeClr val="lt2"/>
                </a:solidFill>
                <a:latin typeface="Rajdhani"/>
                <a:ea typeface="Rajdhani"/>
                <a:cs typeface="Rajdhani"/>
                <a:sym typeface="Rajdhani"/>
              </a:rPr>
              <a:t>Economic Benefits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xfrm>
            <a:off x="767725" y="53725"/>
            <a:ext cx="7704000" cy="572700"/>
          </a:xfrm>
          <a:prstGeom prst="rect">
            <a:avLst/>
          </a:prstGeom>
        </p:spPr>
        <p:txBody>
          <a:bodyPr spcFirstLastPara="1" wrap="square" lIns="91425" tIns="91425" rIns="91425" bIns="91425" anchor="t" anchorCtr="0">
            <a:noAutofit/>
          </a:bodyPr>
          <a:lstStyle/>
          <a:p>
            <a:pPr lvl="0"/>
            <a:r>
              <a:rPr lang="en-US" sz="3600" dirty="0">
                <a:solidFill>
                  <a:srgbClr val="FFFF00"/>
                </a:solidFill>
                <a:latin typeface="Segoe UI Black" pitchFamily="34" charset="0"/>
                <a:ea typeface="Segoe UI Black" pitchFamily="34" charset="0"/>
              </a:rPr>
              <a:t>Background</a:t>
            </a:r>
            <a:endParaRPr sz="3600">
              <a:solidFill>
                <a:srgbClr val="FFFF00"/>
              </a:solidFill>
              <a:latin typeface="Segoe UI Black" pitchFamily="34" charset="0"/>
              <a:ea typeface="Segoe UI Black" pitchFamily="34" charset="0"/>
            </a:endParaRPr>
          </a:p>
        </p:txBody>
      </p:sp>
      <p:sp>
        <p:nvSpPr>
          <p:cNvPr id="47" name="Google Shape;70;p17"/>
          <p:cNvSpPr txBox="1">
            <a:spLocks/>
          </p:cNvSpPr>
          <p:nvPr/>
        </p:nvSpPr>
        <p:spPr>
          <a:xfrm>
            <a:off x="323850" y="653800"/>
            <a:ext cx="7704000" cy="572700"/>
          </a:xfrm>
          <a:prstGeom prst="rect">
            <a:avLst/>
          </a:prstGeom>
          <a:noFill/>
          <a:ln>
            <a:noFill/>
          </a:ln>
        </p:spPr>
        <p:txBody>
          <a:bodyPr spcFirstLastPara="1" wrap="square" lIns="91425" tIns="91425" rIns="91425" bIns="91425" anchor="t" anchorCtr="0">
            <a:noAutofit/>
          </a:bodyPr>
          <a:lstStyle/>
          <a:p>
            <a:pPr lvl="0">
              <a:buClr>
                <a:schemeClr val="lt2"/>
              </a:buClr>
              <a:buSzPts val="3000"/>
            </a:pPr>
            <a:r>
              <a:rPr lang="en-US" sz="2400" b="1" dirty="0">
                <a:solidFill>
                  <a:schemeClr val="lt2"/>
                </a:solidFill>
                <a:latin typeface="Rajdhani"/>
                <a:ea typeface="Rajdhani"/>
                <a:cs typeface="Rajdhani"/>
                <a:sym typeface="Rajdhani"/>
              </a:rPr>
              <a:t>Literature review</a:t>
            </a:r>
            <a:endParaRPr kumimoji="0" lang="en-US" sz="2400" b="1" i="0" u="none" strike="noStrike" kern="0" cap="none" spc="0" normalizeH="0" baseline="0" noProof="0" dirty="0">
              <a:ln>
                <a:noFill/>
              </a:ln>
              <a:solidFill>
                <a:schemeClr val="lt2"/>
              </a:solidFill>
              <a:effectLst/>
              <a:uLnTx/>
              <a:uFillTx/>
              <a:latin typeface="Rajdhani"/>
              <a:ea typeface="Rajdhani"/>
              <a:cs typeface="Rajdhani"/>
              <a:sym typeface="Rajdhani"/>
            </a:endParaRPr>
          </a:p>
        </p:txBody>
      </p:sp>
      <p:sp>
        <p:nvSpPr>
          <p:cNvPr id="4" name="Rectangle 3"/>
          <p:cNvSpPr/>
          <p:nvPr/>
        </p:nvSpPr>
        <p:spPr>
          <a:xfrm>
            <a:off x="600075" y="1097995"/>
            <a:ext cx="8143874" cy="1600438"/>
          </a:xfrm>
          <a:prstGeom prst="rect">
            <a:avLst/>
          </a:prstGeom>
        </p:spPr>
        <p:txBody>
          <a:bodyPr wrap="square">
            <a:spAutoFit/>
          </a:bodyPr>
          <a:lstStyle/>
          <a:p>
            <a:pPr fontAlgn="base"/>
            <a:r>
              <a:rPr lang="en-US" b="1" u="sng" dirty="0">
                <a:solidFill>
                  <a:schemeClr val="tx2"/>
                </a:solidFill>
              </a:rPr>
              <a:t>"Impact of Body Movement Detection in Online Exams on Test Integrity“</a:t>
            </a:r>
          </a:p>
          <a:p>
            <a:pPr fontAlgn="base"/>
            <a:endParaRPr lang="en-US" b="1" dirty="0">
              <a:solidFill>
                <a:schemeClr val="tx2"/>
              </a:solidFill>
            </a:endParaRPr>
          </a:p>
          <a:p>
            <a:r>
              <a:rPr lang="en-US" dirty="0">
                <a:solidFill>
                  <a:schemeClr val="tx2"/>
                </a:solidFill>
              </a:rPr>
              <a:t>Conducted by Garcia and Lee (20XX), this research examines the influence of body movement detection technology on maintaining test integrity in online examinations. It investigates the correlation between the effectiveness of movement detection systems and their impact on deterring dishonest behaviors among test-takers.</a:t>
            </a:r>
            <a:br>
              <a:rPr lang="en-US" dirty="0">
                <a:solidFill>
                  <a:schemeClr val="tx2"/>
                </a:solidFill>
              </a:rPr>
            </a:br>
            <a:endParaRPr lang="en-US" dirty="0">
              <a:solidFill>
                <a:schemeClr val="tx2"/>
              </a:solidFill>
            </a:endParaRPr>
          </a:p>
        </p:txBody>
      </p:sp>
      <p:sp>
        <p:nvSpPr>
          <p:cNvPr id="5" name="Google Shape;70;p17"/>
          <p:cNvSpPr txBox="1">
            <a:spLocks/>
          </p:cNvSpPr>
          <p:nvPr/>
        </p:nvSpPr>
        <p:spPr>
          <a:xfrm>
            <a:off x="314325" y="2406400"/>
            <a:ext cx="7704000" cy="572700"/>
          </a:xfrm>
          <a:prstGeom prst="rect">
            <a:avLst/>
          </a:prstGeom>
          <a:noFill/>
          <a:ln>
            <a:noFill/>
          </a:ln>
        </p:spPr>
        <p:txBody>
          <a:bodyPr spcFirstLastPara="1" wrap="square" lIns="91425" tIns="91425" rIns="91425" bIns="91425" anchor="t" anchorCtr="0">
            <a:noAutofit/>
          </a:bodyPr>
          <a:lstStyle/>
          <a:p>
            <a:pPr lvl="0">
              <a:buClr>
                <a:schemeClr val="lt2"/>
              </a:buClr>
              <a:buSzPts val="3000"/>
            </a:pPr>
            <a:r>
              <a:rPr lang="en-US" sz="1800" b="1" dirty="0">
                <a:solidFill>
                  <a:srgbClr val="FF0000"/>
                </a:solidFill>
              </a:rPr>
              <a:t>Historical context or background of the problem</a:t>
            </a:r>
            <a:endParaRPr kumimoji="0" lang="en-US" sz="1800" b="1" i="0" u="none" strike="noStrike" kern="0" cap="none" spc="0" normalizeH="0" baseline="0" noProof="0" dirty="0">
              <a:ln>
                <a:noFill/>
              </a:ln>
              <a:solidFill>
                <a:srgbClr val="FF0000"/>
              </a:solidFill>
              <a:effectLst/>
              <a:uLnTx/>
              <a:uFillTx/>
              <a:latin typeface="Rajdhani"/>
              <a:ea typeface="Rajdhani"/>
              <a:cs typeface="Rajdhani"/>
              <a:sym typeface="Rajdhani"/>
            </a:endParaRPr>
          </a:p>
        </p:txBody>
      </p:sp>
      <p:sp>
        <p:nvSpPr>
          <p:cNvPr id="6" name="Rectangle 5"/>
          <p:cNvSpPr/>
          <p:nvPr/>
        </p:nvSpPr>
        <p:spPr>
          <a:xfrm>
            <a:off x="285751" y="2825859"/>
            <a:ext cx="8705850" cy="2246769"/>
          </a:xfrm>
          <a:prstGeom prst="rect">
            <a:avLst/>
          </a:prstGeom>
        </p:spPr>
        <p:txBody>
          <a:bodyPr wrap="square">
            <a:spAutoFit/>
          </a:bodyPr>
          <a:lstStyle/>
          <a:p>
            <a:r>
              <a:rPr lang="en-US" dirty="0">
                <a:solidFill>
                  <a:schemeClr val="tx2"/>
                </a:solidFill>
              </a:rPr>
              <a:t>The historical context or background of the problem addressed in your project involves the evolution and application of facial recognition technology, as well as the broader context of attendance tracking systems. Here's a brief historical overview:</a:t>
            </a:r>
          </a:p>
          <a:p>
            <a:endParaRPr lang="en-US" dirty="0">
              <a:solidFill>
                <a:schemeClr val="tx2"/>
              </a:solidFill>
            </a:endParaRPr>
          </a:p>
          <a:p>
            <a:r>
              <a:rPr lang="en-US" b="1" dirty="0">
                <a:solidFill>
                  <a:srgbClr val="FF0000"/>
                </a:solidFill>
              </a:rPr>
              <a:t>Evolution of Facial Recognition Technology:</a:t>
            </a:r>
          </a:p>
          <a:p>
            <a:endParaRPr lang="en-US" dirty="0">
              <a:solidFill>
                <a:schemeClr val="tx2"/>
              </a:solidFill>
            </a:endParaRPr>
          </a:p>
          <a:p>
            <a:pPr lvl="1"/>
            <a:r>
              <a:rPr lang="en-US" dirty="0">
                <a:solidFill>
                  <a:schemeClr val="tx2"/>
                </a:solidFill>
              </a:rPr>
              <a:t>Facial recognition technology has roots dating back to the mid-20th century, with early experiments and developments in computer-based facial recognition. However, it wasn't until the late 20th and early 21st centuries that advancements in computer vision, artificial intelligence, and deep learning significantly improved the accuracy and efficiency of facial recognition systems.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2" name="Google Shape;91;p18"/>
          <p:cNvSpPr txBox="1">
            <a:spLocks/>
          </p:cNvSpPr>
          <p:nvPr/>
        </p:nvSpPr>
        <p:spPr>
          <a:xfrm>
            <a:off x="767725" y="53725"/>
            <a:ext cx="7704000" cy="572700"/>
          </a:xfrm>
          <a:prstGeom prst="rect">
            <a:avLst/>
          </a:prstGeom>
          <a:noFill/>
          <a:ln>
            <a:noFill/>
          </a:ln>
        </p:spPr>
        <p:txBody>
          <a:bodyPr spcFirstLastPara="1" wrap="square" lIns="91425" tIns="91425" rIns="91425" bIns="91425" anchor="t" anchorCtr="0">
            <a:noAutofit/>
          </a:bodyPr>
          <a:lstStyle/>
          <a:p>
            <a:pPr lvl="0" algn="ctr">
              <a:buClr>
                <a:schemeClr val="lt2"/>
              </a:buClr>
              <a:buSzPts val="3000"/>
            </a:pPr>
            <a:r>
              <a:rPr lang="en-US" sz="3600" b="1" dirty="0">
                <a:solidFill>
                  <a:srgbClr val="FFFF00"/>
                </a:solidFill>
                <a:latin typeface="Segoe UI Black" pitchFamily="34" charset="0"/>
                <a:ea typeface="Segoe UI Black" pitchFamily="34" charset="0"/>
                <a:cs typeface="Rajdhani"/>
                <a:sym typeface="Rajdhani"/>
              </a:rPr>
              <a:t>Problem Statement</a:t>
            </a:r>
            <a:endParaRPr kumimoji="0" lang="en-US" sz="3600" b="1" i="0" u="none" strike="noStrike" kern="0" cap="none" spc="0" normalizeH="0" baseline="0" noProof="0" dirty="0">
              <a:ln>
                <a:noFill/>
              </a:ln>
              <a:solidFill>
                <a:srgbClr val="FFFF00"/>
              </a:solidFill>
              <a:effectLst/>
              <a:uLnTx/>
              <a:uFillTx/>
              <a:latin typeface="Segoe UI Black" pitchFamily="34" charset="0"/>
              <a:ea typeface="Segoe UI Black" pitchFamily="34" charset="0"/>
              <a:cs typeface="Rajdhani"/>
              <a:sym typeface="Rajdhani"/>
            </a:endParaRPr>
          </a:p>
        </p:txBody>
      </p:sp>
      <p:sp>
        <p:nvSpPr>
          <p:cNvPr id="3" name="Google Shape;70;p17"/>
          <p:cNvSpPr txBox="1">
            <a:spLocks/>
          </p:cNvSpPr>
          <p:nvPr/>
        </p:nvSpPr>
        <p:spPr>
          <a:xfrm>
            <a:off x="323850" y="653800"/>
            <a:ext cx="7704000" cy="572700"/>
          </a:xfrm>
          <a:prstGeom prst="rect">
            <a:avLst/>
          </a:prstGeom>
          <a:noFill/>
          <a:ln>
            <a:noFill/>
          </a:ln>
        </p:spPr>
        <p:txBody>
          <a:bodyPr spcFirstLastPara="1" wrap="square" lIns="91425" tIns="91425" rIns="91425" bIns="91425" anchor="t" anchorCtr="0">
            <a:noAutofit/>
          </a:bodyPr>
          <a:lstStyle/>
          <a:p>
            <a:pPr lvl="0">
              <a:buClr>
                <a:schemeClr val="lt2"/>
              </a:buClr>
              <a:buSzPts val="3000"/>
            </a:pPr>
            <a:r>
              <a:rPr lang="en-US" sz="1800" b="1" dirty="0">
                <a:solidFill>
                  <a:schemeClr val="tx2"/>
                </a:solidFill>
                <a:latin typeface="Rajdhani"/>
                <a:ea typeface="Rajdhani"/>
                <a:cs typeface="Rajdhani"/>
                <a:sym typeface="Rajdhani"/>
              </a:rPr>
              <a:t>Clear definition of the problem you are addressing </a:t>
            </a:r>
            <a:endParaRPr kumimoji="0" lang="en-US" sz="18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sp>
        <p:nvSpPr>
          <p:cNvPr id="4" name="Rectangle 3"/>
          <p:cNvSpPr/>
          <p:nvPr/>
        </p:nvSpPr>
        <p:spPr>
          <a:xfrm>
            <a:off x="342901" y="1020218"/>
            <a:ext cx="8601074" cy="1754326"/>
          </a:xfrm>
          <a:prstGeom prst="rect">
            <a:avLst/>
          </a:prstGeom>
        </p:spPr>
        <p:txBody>
          <a:bodyPr wrap="square">
            <a:spAutoFit/>
          </a:bodyPr>
          <a:lstStyle/>
          <a:p>
            <a:pPr fontAlgn="base"/>
            <a:r>
              <a:rPr lang="en-US" sz="1200" dirty="0">
                <a:solidFill>
                  <a:schemeClr val="tx2"/>
                </a:solidFill>
              </a:rPr>
              <a:t>The specific problem being addressed is the need for robust measures to prevent cheating and ensure the legitimacy of online exams. Body part movement detection technology serves as a solution by monitoring and analyzing test-takers' physical movements during the exam. This includes tracking eye movements, head positions, hand gestures, and other behaviors that might indicate irregularities or unauthorized assistance.</a:t>
            </a:r>
          </a:p>
          <a:p>
            <a:pPr fontAlgn="base"/>
            <a:br>
              <a:rPr lang="en-US" sz="1200" dirty="0">
                <a:solidFill>
                  <a:schemeClr val="tx2"/>
                </a:solidFill>
              </a:rPr>
            </a:br>
            <a:r>
              <a:rPr lang="en-US" sz="1200" dirty="0">
                <a:solidFill>
                  <a:schemeClr val="tx2"/>
                </a:solidFill>
              </a:rPr>
              <a:t>By integrating this technology into online examination systems, the aim is to:</a:t>
            </a:r>
          </a:p>
          <a:p>
            <a:pPr fontAlgn="base"/>
            <a:br>
              <a:rPr lang="en-US" sz="1200" dirty="0">
                <a:solidFill>
                  <a:schemeClr val="tx2"/>
                </a:solidFill>
              </a:rPr>
            </a:br>
            <a:r>
              <a:rPr lang="en-US" sz="1200" b="1" u="sng" dirty="0">
                <a:solidFill>
                  <a:srgbClr val="FF0000"/>
                </a:solidFill>
              </a:rPr>
              <a:t>Detect Suspicious Behaviors:</a:t>
            </a:r>
            <a:r>
              <a:rPr lang="en-US" sz="1200" dirty="0">
                <a:solidFill>
                  <a:srgbClr val="FF0000"/>
                </a:solidFill>
              </a:rPr>
              <a:t> </a:t>
            </a:r>
            <a:r>
              <a:rPr lang="en-US" sz="1200" dirty="0">
                <a:solidFill>
                  <a:schemeClr val="tx2"/>
                </a:solidFill>
              </a:rPr>
              <a:t>Identify and flag actions or movements that deviate from expected behavior during exams, potentially indicating cheating or dishonesty.</a:t>
            </a:r>
          </a:p>
        </p:txBody>
      </p:sp>
      <p:sp>
        <p:nvSpPr>
          <p:cNvPr id="5" name="Rectangle 4"/>
          <p:cNvSpPr/>
          <p:nvPr/>
        </p:nvSpPr>
        <p:spPr>
          <a:xfrm>
            <a:off x="352425" y="3095625"/>
            <a:ext cx="8458200" cy="1938992"/>
          </a:xfrm>
          <a:prstGeom prst="rect">
            <a:avLst/>
          </a:prstGeom>
        </p:spPr>
        <p:txBody>
          <a:bodyPr wrap="square">
            <a:spAutoFit/>
          </a:bodyPr>
          <a:lstStyle/>
          <a:p>
            <a:r>
              <a:rPr lang="en-US" sz="1200" dirty="0">
                <a:solidFill>
                  <a:schemeClr val="tx2"/>
                </a:solidFill>
              </a:rPr>
              <a:t>In the current context, the integration of body part movement detection into online examination systems holds significant relevance due to several factors:</a:t>
            </a:r>
          </a:p>
          <a:p>
            <a:pPr fontAlgn="base"/>
            <a:endParaRPr lang="en-US" sz="1200" dirty="0">
              <a:solidFill>
                <a:schemeClr val="tx2"/>
              </a:solidFill>
            </a:endParaRPr>
          </a:p>
          <a:p>
            <a:pPr fontAlgn="base"/>
            <a:r>
              <a:rPr lang="en-US" sz="1200" b="1" u="sng" dirty="0">
                <a:solidFill>
                  <a:srgbClr val="FF0000"/>
                </a:solidFill>
              </a:rPr>
              <a:t>Challenges of Remote Proctoring: </a:t>
            </a:r>
            <a:r>
              <a:rPr lang="en-US" sz="1200" dirty="0">
                <a:solidFill>
                  <a:schemeClr val="tx2"/>
                </a:solidFill>
              </a:rPr>
              <a:t>Traditional methods of proctoring and supervision used in physical exams are not easily applicable in remote settings. The lack of direct oversight increases the risk of cheating and academic dishonesty, underscoring the importance of innovative solutions like movement detection technology.</a:t>
            </a:r>
          </a:p>
          <a:p>
            <a:pPr fontAlgn="base"/>
            <a:endParaRPr lang="en-US" sz="1200" dirty="0">
              <a:solidFill>
                <a:schemeClr val="tx2"/>
              </a:solidFill>
            </a:endParaRPr>
          </a:p>
          <a:p>
            <a:r>
              <a:rPr lang="en-US" sz="1200" b="1" u="sng" dirty="0">
                <a:solidFill>
                  <a:srgbClr val="FF0000"/>
                </a:solidFill>
              </a:rPr>
              <a:t>Technological Advancements:</a:t>
            </a:r>
            <a:r>
              <a:rPr lang="en-US" sz="1200" b="1" u="sng" dirty="0">
                <a:solidFill>
                  <a:schemeClr val="tx2"/>
                </a:solidFill>
              </a:rPr>
              <a:t> </a:t>
            </a:r>
            <a:r>
              <a:rPr lang="en-US" sz="1200" dirty="0">
                <a:solidFill>
                  <a:schemeClr val="tx2"/>
                </a:solidFill>
              </a:rPr>
              <a:t>Continuous advancements in monitoring technologies, artificial intelligence, and machine learning have significantly enhanced the capabilities of body part movement detection systems. These advancements offer more accurate and sophisticated means of identifying irregular behaviors during online exams.</a:t>
            </a:r>
          </a:p>
        </p:txBody>
      </p:sp>
      <p:sp>
        <p:nvSpPr>
          <p:cNvPr id="6" name="Google Shape;70;p17"/>
          <p:cNvSpPr txBox="1">
            <a:spLocks/>
          </p:cNvSpPr>
          <p:nvPr/>
        </p:nvSpPr>
        <p:spPr>
          <a:xfrm>
            <a:off x="333375" y="2758825"/>
            <a:ext cx="7704000" cy="572700"/>
          </a:xfrm>
          <a:prstGeom prst="rect">
            <a:avLst/>
          </a:prstGeom>
          <a:noFill/>
          <a:ln>
            <a:noFill/>
          </a:ln>
        </p:spPr>
        <p:txBody>
          <a:bodyPr spcFirstLastPara="1" wrap="square" lIns="91425" tIns="91425" rIns="91425" bIns="91425" anchor="t" anchorCtr="0">
            <a:noAutofit/>
          </a:bodyPr>
          <a:lstStyle/>
          <a:p>
            <a:pPr lvl="0">
              <a:buClr>
                <a:schemeClr val="lt2"/>
              </a:buClr>
              <a:buSzPts val="3000"/>
            </a:pPr>
            <a:r>
              <a:rPr lang="en-US" sz="1800" b="1" dirty="0">
                <a:solidFill>
                  <a:schemeClr val="tx2"/>
                </a:solidFill>
                <a:latin typeface="Rajdhani"/>
                <a:ea typeface="Rajdhani"/>
                <a:cs typeface="Rajdhani"/>
                <a:sym typeface="Rajdhani"/>
              </a:rPr>
              <a:t>Relevance of the problem in the current context</a:t>
            </a:r>
            <a:endParaRPr kumimoji="0" lang="en-US" sz="18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54" name="Google Shape;91;p18"/>
          <p:cNvSpPr txBox="1">
            <a:spLocks/>
          </p:cNvSpPr>
          <p:nvPr/>
        </p:nvSpPr>
        <p:spPr>
          <a:xfrm>
            <a:off x="767725" y="53725"/>
            <a:ext cx="7704000" cy="572700"/>
          </a:xfrm>
          <a:prstGeom prst="rect">
            <a:avLst/>
          </a:prstGeom>
          <a:noFill/>
          <a:ln>
            <a:noFill/>
          </a:ln>
        </p:spPr>
        <p:txBody>
          <a:bodyPr spcFirstLastPara="1" wrap="square" lIns="91425" tIns="91425" rIns="91425" bIns="91425" anchor="t" anchorCtr="0">
            <a:noAutofit/>
          </a:bodyPr>
          <a:lstStyle/>
          <a:p>
            <a:pPr lvl="0" algn="ctr">
              <a:buClr>
                <a:schemeClr val="lt2"/>
              </a:buClr>
              <a:buSzPts val="3000"/>
            </a:pPr>
            <a:r>
              <a:rPr lang="en-US" sz="3600" b="1" dirty="0">
                <a:solidFill>
                  <a:srgbClr val="FFFF00"/>
                </a:solidFill>
                <a:latin typeface="Segoe UI Black" pitchFamily="34" charset="0"/>
                <a:ea typeface="Segoe UI Black" pitchFamily="34" charset="0"/>
                <a:cs typeface="Rajdhani"/>
                <a:sym typeface="Rajdhani"/>
              </a:rPr>
              <a:t>Research Question(s) </a:t>
            </a:r>
            <a:endParaRPr kumimoji="0" lang="en-US" sz="3600" b="1" i="0" u="none" strike="noStrike" kern="0" cap="none" spc="0" normalizeH="0" baseline="0" noProof="0" dirty="0">
              <a:ln>
                <a:noFill/>
              </a:ln>
              <a:solidFill>
                <a:srgbClr val="FFFF00"/>
              </a:solidFill>
              <a:effectLst/>
              <a:uLnTx/>
              <a:uFillTx/>
              <a:latin typeface="Segoe UI Black" pitchFamily="34" charset="0"/>
              <a:ea typeface="Segoe UI Black" pitchFamily="34" charset="0"/>
              <a:cs typeface="Rajdhani"/>
              <a:sym typeface="Rajdhani"/>
            </a:endParaRPr>
          </a:p>
        </p:txBody>
      </p:sp>
      <p:sp>
        <p:nvSpPr>
          <p:cNvPr id="4" name="TextBox 3">
            <a:extLst>
              <a:ext uri="{FF2B5EF4-FFF2-40B4-BE49-F238E27FC236}">
                <a16:creationId xmlns:a16="http://schemas.microsoft.com/office/drawing/2014/main" id="{6ED4D4A2-6E1C-4853-AABB-E4A2F6D3C326}"/>
              </a:ext>
            </a:extLst>
          </p:cNvPr>
          <p:cNvSpPr txBox="1"/>
          <p:nvPr/>
        </p:nvSpPr>
        <p:spPr>
          <a:xfrm>
            <a:off x="767725" y="999460"/>
            <a:ext cx="7362638" cy="3970318"/>
          </a:xfrm>
          <a:prstGeom prst="rect">
            <a:avLst/>
          </a:prstGeom>
          <a:noFill/>
        </p:spPr>
        <p:txBody>
          <a:bodyPr wrap="square" rtlCol="0">
            <a:spAutoFit/>
          </a:bodyPr>
          <a:lstStyle/>
          <a:p>
            <a:pPr marL="342900" indent="-342900">
              <a:buClr>
                <a:srgbClr val="FF0000"/>
              </a:buClr>
              <a:buFont typeface="+mj-lt"/>
              <a:buAutoNum type="arabicPeriod"/>
            </a:pPr>
            <a:r>
              <a:rPr lang="en-US" dirty="0">
                <a:solidFill>
                  <a:schemeClr val="tx2"/>
                </a:solidFill>
              </a:rPr>
              <a:t>How can AI be integrated into the examination system to ensure secure and reliable camera detection?</a:t>
            </a:r>
          </a:p>
          <a:p>
            <a:pPr marL="342900" indent="-342900">
              <a:buClr>
                <a:srgbClr val="FF0000"/>
              </a:buClr>
              <a:buFont typeface="+mj-lt"/>
              <a:buAutoNum type="arabicPeriod"/>
            </a:pPr>
            <a:r>
              <a:rPr lang="en-US" dirty="0">
                <a:solidFill>
                  <a:schemeClr val="tx2"/>
                </a:solidFill>
              </a:rPr>
              <a:t>What machine learning algorithms or models are most suitable for real-time camera monitoring during online exams?</a:t>
            </a:r>
          </a:p>
          <a:p>
            <a:pPr marL="342900" indent="-342900">
              <a:buClr>
                <a:srgbClr val="FF0000"/>
              </a:buClr>
              <a:buFont typeface="+mj-lt"/>
              <a:buAutoNum type="arabicPeriod"/>
            </a:pPr>
            <a:r>
              <a:rPr lang="en-US" dirty="0">
                <a:solidFill>
                  <a:schemeClr val="tx2"/>
                </a:solidFill>
              </a:rPr>
              <a:t>How can the system handle different types of cameras and lighting conditions to ensure accuracy in detection?</a:t>
            </a:r>
          </a:p>
          <a:p>
            <a:pPr marL="342900" indent="-342900">
              <a:buClr>
                <a:srgbClr val="FF0000"/>
              </a:buClr>
              <a:buFont typeface="+mj-lt"/>
              <a:buAutoNum type="arabicPeriod"/>
            </a:pPr>
            <a:r>
              <a:rPr lang="en-US" dirty="0">
                <a:solidFill>
                  <a:schemeClr val="tx2"/>
                </a:solidFill>
              </a:rPr>
              <a:t>What measures can be implemented to prevent cheating and ensure the integrity of the examination process?</a:t>
            </a:r>
          </a:p>
          <a:p>
            <a:pPr marL="342900" indent="-342900">
              <a:buClr>
                <a:srgbClr val="FF0000"/>
              </a:buClr>
              <a:buFont typeface="+mj-lt"/>
              <a:buAutoNum type="arabicPeriod"/>
            </a:pPr>
            <a:r>
              <a:rPr lang="en-US" dirty="0">
                <a:solidFill>
                  <a:schemeClr val="tx2"/>
                </a:solidFill>
              </a:rPr>
              <a:t>What encryption and authentication methods should be used to secure the captured images and data?</a:t>
            </a:r>
          </a:p>
          <a:p>
            <a:pPr marL="342900" indent="-342900">
              <a:buClr>
                <a:srgbClr val="FF0000"/>
              </a:buClr>
              <a:buFont typeface="+mj-lt"/>
              <a:buAutoNum type="arabicPeriod"/>
            </a:pPr>
            <a:r>
              <a:rPr lang="en-US" dirty="0">
                <a:solidFill>
                  <a:schemeClr val="tx2"/>
                </a:solidFill>
              </a:rPr>
              <a:t>What considerations should be taken into account to ensure the system is scalable for use in large-scale online examinations?</a:t>
            </a:r>
          </a:p>
          <a:p>
            <a:pPr marL="342900" indent="-342900">
              <a:buClr>
                <a:srgbClr val="FF0000"/>
              </a:buClr>
              <a:buFont typeface="+mj-lt"/>
              <a:buAutoNum type="arabicPeriod"/>
            </a:pPr>
            <a:r>
              <a:rPr lang="en-US" dirty="0">
                <a:solidFill>
                  <a:schemeClr val="tx2"/>
                </a:solidFill>
              </a:rPr>
              <a:t>What mechanisms can be implemented to allow students to dispute or appeal any camera detection-related issues?</a:t>
            </a:r>
          </a:p>
          <a:p>
            <a:pPr marL="342900" indent="-342900">
              <a:buClr>
                <a:srgbClr val="FF0000"/>
              </a:buClr>
              <a:buFont typeface="+mj-lt"/>
              <a:buAutoNum type="arabicPeriod"/>
            </a:pPr>
            <a:r>
              <a:rPr lang="en-US" dirty="0">
                <a:solidFill>
                  <a:schemeClr val="tx2"/>
                </a:solidFill>
              </a:rPr>
              <a:t>How does an AI-based camera detection system compare to traditional methods of exam invigilation in terms of effectiveness and student acceptance?</a:t>
            </a:r>
          </a:p>
          <a:p>
            <a:pPr marL="342900" indent="-342900">
              <a:buClr>
                <a:srgbClr val="FF0000"/>
              </a:buClr>
              <a:buFont typeface="+mj-lt"/>
              <a:buAutoNum type="arabicPeriod"/>
            </a:pPr>
            <a:endParaRPr lang="en-US" dirty="0">
              <a:solidFill>
                <a:schemeClr val="tx2"/>
              </a:solidFill>
            </a:endParaRPr>
          </a:p>
          <a:p>
            <a:pPr marL="342900" indent="-342900">
              <a:buClr>
                <a:srgbClr val="FF0000"/>
              </a:buClr>
              <a:buFont typeface="+mj-lt"/>
              <a:buAutoNum type="arabicPeriod"/>
            </a:pPr>
            <a:endParaRPr lang="en-IN" dirty="0">
              <a:solidFill>
                <a:schemeClr val="tx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1;p18"/>
          <p:cNvSpPr txBox="1">
            <a:spLocks/>
          </p:cNvSpPr>
          <p:nvPr/>
        </p:nvSpPr>
        <p:spPr>
          <a:xfrm>
            <a:off x="0" y="25149"/>
            <a:ext cx="9144000" cy="1365501"/>
          </a:xfrm>
          <a:prstGeom prst="rect">
            <a:avLst/>
          </a:prstGeom>
          <a:noFill/>
          <a:ln>
            <a:noFill/>
          </a:ln>
        </p:spPr>
        <p:txBody>
          <a:bodyPr spcFirstLastPara="1" wrap="square" lIns="91425" tIns="91425" rIns="91425" bIns="91425" anchor="t" anchorCtr="0">
            <a:noAutofit/>
          </a:bodyPr>
          <a:lstStyle/>
          <a:p>
            <a:pPr lvl="0" algn="ctr">
              <a:buClr>
                <a:schemeClr val="lt2"/>
              </a:buClr>
              <a:buSzPts val="3000"/>
            </a:pPr>
            <a:r>
              <a:rPr lang="en-US" sz="3600" b="1" dirty="0">
                <a:solidFill>
                  <a:srgbClr val="FFFF00"/>
                </a:solidFill>
                <a:latin typeface="Segoe UI Black" pitchFamily="34" charset="0"/>
                <a:ea typeface="Segoe UI Black" pitchFamily="34" charset="0"/>
                <a:cs typeface="Rajdhani"/>
                <a:sym typeface="Rajdhani"/>
              </a:rPr>
              <a:t>Hypothesis/Thesis/Outcome Statement</a:t>
            </a:r>
            <a:endParaRPr kumimoji="0" lang="en-US" sz="3600" b="1" i="0" u="none" strike="noStrike" kern="0" cap="none" spc="0" normalizeH="0" baseline="0" noProof="0" dirty="0">
              <a:ln>
                <a:noFill/>
              </a:ln>
              <a:solidFill>
                <a:srgbClr val="FFFF00"/>
              </a:solidFill>
              <a:effectLst/>
              <a:uLnTx/>
              <a:uFillTx/>
              <a:latin typeface="Segoe UI Black" pitchFamily="34" charset="0"/>
              <a:ea typeface="Segoe UI Black" pitchFamily="34" charset="0"/>
              <a:cs typeface="Rajdhani"/>
              <a:sym typeface="Rajdhani"/>
            </a:endParaRPr>
          </a:p>
        </p:txBody>
      </p:sp>
      <p:sp>
        <p:nvSpPr>
          <p:cNvPr id="5" name="Rectangle 4"/>
          <p:cNvSpPr/>
          <p:nvPr/>
        </p:nvSpPr>
        <p:spPr>
          <a:xfrm>
            <a:off x="171450" y="777776"/>
            <a:ext cx="8810625" cy="4185761"/>
          </a:xfrm>
          <a:prstGeom prst="rect">
            <a:avLst/>
          </a:prstGeom>
        </p:spPr>
        <p:txBody>
          <a:bodyPr wrap="square">
            <a:spAutoFit/>
          </a:bodyPr>
          <a:lstStyle/>
          <a:p>
            <a:r>
              <a:rPr lang="en-US" dirty="0">
                <a:solidFill>
                  <a:schemeClr val="tx2"/>
                </a:solidFill>
              </a:rPr>
              <a:t>The project's main goal is to develop a system for real-time facial recognition and attendance tracking using a webcam. Here's a potential hypothesis, thesis, or outcome statement:-</a:t>
            </a:r>
          </a:p>
          <a:p>
            <a:endParaRPr lang="en-US" dirty="0">
              <a:solidFill>
                <a:schemeClr val="tx2"/>
              </a:solidFill>
            </a:endParaRPr>
          </a:p>
          <a:p>
            <a:r>
              <a:rPr lang="en-US" b="1" dirty="0">
                <a:solidFill>
                  <a:srgbClr val="FF0000"/>
                </a:solidFill>
              </a:rPr>
              <a:t>Hypothesis:</a:t>
            </a:r>
            <a:r>
              <a:rPr lang="en-US" dirty="0">
                <a:solidFill>
                  <a:srgbClr val="FF0000"/>
                </a:solidFill>
              </a:rPr>
              <a:t> </a:t>
            </a:r>
            <a:r>
              <a:rPr lang="en-US" dirty="0">
                <a:solidFill>
                  <a:schemeClr val="tx2"/>
                </a:solidFill>
              </a:rPr>
              <a:t>"The implementation of a real-time facial recognition system, integrating features such as head movement analysis, eye state detection, mouth state analysis, glasses detection, and gender identification, will provide an efficient and accurate method for automated attendance tracking in educational or organizational settings.“</a:t>
            </a:r>
          </a:p>
          <a:p>
            <a:endParaRPr lang="en-US" dirty="0">
              <a:solidFill>
                <a:schemeClr val="tx2"/>
              </a:solidFill>
            </a:endParaRPr>
          </a:p>
          <a:p>
            <a:r>
              <a:rPr lang="en-US" b="1" dirty="0">
                <a:solidFill>
                  <a:srgbClr val="FF0000"/>
                </a:solidFill>
              </a:rPr>
              <a:t>Thesis Statement:</a:t>
            </a:r>
            <a:r>
              <a:rPr lang="en-US" dirty="0">
                <a:solidFill>
                  <a:srgbClr val="FF0000"/>
                </a:solidFill>
              </a:rPr>
              <a:t> </a:t>
            </a:r>
            <a:r>
              <a:rPr lang="en-US" dirty="0">
                <a:solidFill>
                  <a:schemeClr val="tx2"/>
                </a:solidFill>
              </a:rPr>
              <a:t>"This project aims to design and implement a real-time facial recognition system utilizing computer vision techniques. The system incorporates advanced features such as head movement analysis, eye state detection, mouth state analysis, glasses detection, and gender identification. The objective is to demonstrate the system's effectiveness in automating the attendance tracking process, providing a reliable and non-intrusive method for educational and organizational environments.“</a:t>
            </a:r>
          </a:p>
          <a:p>
            <a:endParaRPr lang="en-US" dirty="0">
              <a:solidFill>
                <a:schemeClr val="tx2"/>
              </a:solidFill>
            </a:endParaRPr>
          </a:p>
          <a:p>
            <a:r>
              <a:rPr lang="en-US" b="1" dirty="0">
                <a:solidFill>
                  <a:srgbClr val="FF0000"/>
                </a:solidFill>
              </a:rPr>
              <a:t>Outcome Statement: </a:t>
            </a:r>
            <a:r>
              <a:rPr lang="en-US" dirty="0">
                <a:solidFill>
                  <a:schemeClr val="tx2"/>
                </a:solidFill>
              </a:rPr>
              <a:t>"The developed facial recognition system successfully identifies individuals, records their attendance, and captures additional facial features in real-time. Through the integration of head movement analysis, eye state detection, mouth state analysis, glasses detection, and gender identification, the system offers a comprehensive solution for attendance tracking. The outcome aims to contribute to the advancement of automated attendance systems with enhanced capabilities for facial feature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317" name="Google Shape;317;p22"/>
          <p:cNvSpPr/>
          <p:nvPr/>
        </p:nvSpPr>
        <p:spPr>
          <a:xfrm>
            <a:off x="8039587" y="2144580"/>
            <a:ext cx="320341" cy="261090"/>
          </a:xfrm>
          <a:custGeom>
            <a:avLst/>
            <a:gdLst/>
            <a:ahLst/>
            <a:cxnLst/>
            <a:rect l="l" t="t" r="r" b="b"/>
            <a:pathLst>
              <a:path w="11943" h="9734" extrusionOk="0">
                <a:moveTo>
                  <a:pt x="11585" y="2638"/>
                </a:moveTo>
                <a:lnTo>
                  <a:pt x="11585" y="3066"/>
                </a:lnTo>
                <a:lnTo>
                  <a:pt x="9121" y="4007"/>
                </a:lnTo>
                <a:lnTo>
                  <a:pt x="9121" y="3566"/>
                </a:lnTo>
                <a:lnTo>
                  <a:pt x="11585" y="2638"/>
                </a:lnTo>
                <a:close/>
                <a:moveTo>
                  <a:pt x="370" y="2638"/>
                </a:moveTo>
                <a:lnTo>
                  <a:pt x="5787" y="4697"/>
                </a:lnTo>
                <a:lnTo>
                  <a:pt x="5787" y="5138"/>
                </a:lnTo>
                <a:lnTo>
                  <a:pt x="370" y="3066"/>
                </a:lnTo>
                <a:lnTo>
                  <a:pt x="370" y="2638"/>
                </a:lnTo>
                <a:close/>
                <a:moveTo>
                  <a:pt x="8764" y="3709"/>
                </a:moveTo>
                <a:lnTo>
                  <a:pt x="8764" y="4138"/>
                </a:lnTo>
                <a:lnTo>
                  <a:pt x="6144" y="5138"/>
                </a:lnTo>
                <a:lnTo>
                  <a:pt x="6144" y="4697"/>
                </a:lnTo>
                <a:lnTo>
                  <a:pt x="8764" y="3709"/>
                </a:lnTo>
                <a:close/>
                <a:moveTo>
                  <a:pt x="9657" y="4162"/>
                </a:moveTo>
                <a:lnTo>
                  <a:pt x="9657" y="6745"/>
                </a:lnTo>
                <a:cubicBezTo>
                  <a:pt x="9478" y="6876"/>
                  <a:pt x="9299" y="6995"/>
                  <a:pt x="9121" y="7114"/>
                </a:cubicBezTo>
                <a:lnTo>
                  <a:pt x="9121" y="4376"/>
                </a:lnTo>
                <a:lnTo>
                  <a:pt x="9657" y="4162"/>
                </a:lnTo>
                <a:close/>
                <a:moveTo>
                  <a:pt x="8961" y="8757"/>
                </a:moveTo>
                <a:cubicBezTo>
                  <a:pt x="9131" y="8757"/>
                  <a:pt x="9264" y="8907"/>
                  <a:pt x="9264" y="9079"/>
                </a:cubicBezTo>
                <a:cubicBezTo>
                  <a:pt x="9264" y="9258"/>
                  <a:pt x="9109" y="9389"/>
                  <a:pt x="8942" y="9389"/>
                </a:cubicBezTo>
                <a:cubicBezTo>
                  <a:pt x="8764" y="9389"/>
                  <a:pt x="8633" y="9246"/>
                  <a:pt x="8633" y="9079"/>
                </a:cubicBezTo>
                <a:cubicBezTo>
                  <a:pt x="8633" y="8900"/>
                  <a:pt x="8787" y="8757"/>
                  <a:pt x="8942" y="8757"/>
                </a:cubicBezTo>
                <a:cubicBezTo>
                  <a:pt x="8949" y="8757"/>
                  <a:pt x="8955" y="8757"/>
                  <a:pt x="8961" y="8757"/>
                </a:cubicBezTo>
                <a:close/>
                <a:moveTo>
                  <a:pt x="5949" y="0"/>
                </a:moveTo>
                <a:cubicBezTo>
                  <a:pt x="5930" y="0"/>
                  <a:pt x="5912" y="6"/>
                  <a:pt x="5894" y="18"/>
                </a:cubicBezTo>
                <a:lnTo>
                  <a:pt x="120" y="2221"/>
                </a:lnTo>
                <a:cubicBezTo>
                  <a:pt x="48" y="2245"/>
                  <a:pt x="1" y="2304"/>
                  <a:pt x="1" y="2376"/>
                </a:cubicBezTo>
                <a:lnTo>
                  <a:pt x="1" y="3185"/>
                </a:lnTo>
                <a:cubicBezTo>
                  <a:pt x="1" y="3257"/>
                  <a:pt x="48" y="3316"/>
                  <a:pt x="120" y="3352"/>
                </a:cubicBezTo>
                <a:lnTo>
                  <a:pt x="1917" y="4031"/>
                </a:lnTo>
                <a:lnTo>
                  <a:pt x="1917" y="4638"/>
                </a:lnTo>
                <a:cubicBezTo>
                  <a:pt x="1917" y="4745"/>
                  <a:pt x="2001" y="4817"/>
                  <a:pt x="2096" y="4817"/>
                </a:cubicBezTo>
                <a:cubicBezTo>
                  <a:pt x="2203" y="4817"/>
                  <a:pt x="2275" y="4745"/>
                  <a:pt x="2275" y="4638"/>
                </a:cubicBezTo>
                <a:lnTo>
                  <a:pt x="2275" y="4186"/>
                </a:lnTo>
                <a:lnTo>
                  <a:pt x="5894" y="5567"/>
                </a:lnTo>
                <a:cubicBezTo>
                  <a:pt x="5906" y="5579"/>
                  <a:pt x="5942" y="5579"/>
                  <a:pt x="5954" y="5579"/>
                </a:cubicBezTo>
                <a:cubicBezTo>
                  <a:pt x="5966" y="5579"/>
                  <a:pt x="6001" y="5579"/>
                  <a:pt x="6013" y="5567"/>
                </a:cubicBezTo>
                <a:lnTo>
                  <a:pt x="8740" y="4519"/>
                </a:lnTo>
                <a:lnTo>
                  <a:pt x="8740" y="7317"/>
                </a:lnTo>
                <a:cubicBezTo>
                  <a:pt x="7871" y="7769"/>
                  <a:pt x="6918" y="8007"/>
                  <a:pt x="5942" y="8007"/>
                </a:cubicBezTo>
                <a:cubicBezTo>
                  <a:pt x="4620" y="8007"/>
                  <a:pt x="3310" y="7555"/>
                  <a:pt x="2263" y="6745"/>
                </a:cubicBezTo>
                <a:lnTo>
                  <a:pt x="2263" y="5352"/>
                </a:lnTo>
                <a:cubicBezTo>
                  <a:pt x="2263" y="5257"/>
                  <a:pt x="2191" y="5174"/>
                  <a:pt x="2084" y="5174"/>
                </a:cubicBezTo>
                <a:cubicBezTo>
                  <a:pt x="1977" y="5174"/>
                  <a:pt x="1906" y="5257"/>
                  <a:pt x="1906" y="5352"/>
                </a:cubicBezTo>
                <a:lnTo>
                  <a:pt x="1906" y="6817"/>
                </a:lnTo>
                <a:cubicBezTo>
                  <a:pt x="1906" y="6876"/>
                  <a:pt x="1941" y="6924"/>
                  <a:pt x="1965" y="6948"/>
                </a:cubicBezTo>
                <a:cubicBezTo>
                  <a:pt x="3084" y="7841"/>
                  <a:pt x="4501" y="8353"/>
                  <a:pt x="5942" y="8353"/>
                </a:cubicBezTo>
                <a:cubicBezTo>
                  <a:pt x="6906" y="8353"/>
                  <a:pt x="7859" y="8126"/>
                  <a:pt x="8740" y="7698"/>
                </a:cubicBezTo>
                <a:lnTo>
                  <a:pt x="8740" y="8412"/>
                </a:lnTo>
                <a:cubicBezTo>
                  <a:pt x="8454" y="8484"/>
                  <a:pt x="8252" y="8746"/>
                  <a:pt x="8252" y="9067"/>
                </a:cubicBezTo>
                <a:cubicBezTo>
                  <a:pt x="8252" y="9436"/>
                  <a:pt x="8549" y="9734"/>
                  <a:pt x="8918" y="9734"/>
                </a:cubicBezTo>
                <a:cubicBezTo>
                  <a:pt x="9287" y="9734"/>
                  <a:pt x="9585" y="9436"/>
                  <a:pt x="9585" y="9067"/>
                </a:cubicBezTo>
                <a:cubicBezTo>
                  <a:pt x="9585" y="8746"/>
                  <a:pt x="9383" y="8496"/>
                  <a:pt x="9097" y="8412"/>
                </a:cubicBezTo>
                <a:lnTo>
                  <a:pt x="9097" y="7495"/>
                </a:lnTo>
                <a:cubicBezTo>
                  <a:pt x="9383" y="7341"/>
                  <a:pt x="9657" y="7138"/>
                  <a:pt x="9918" y="6936"/>
                </a:cubicBezTo>
                <a:cubicBezTo>
                  <a:pt x="9954" y="6900"/>
                  <a:pt x="9978" y="6841"/>
                  <a:pt x="9978" y="6805"/>
                </a:cubicBezTo>
                <a:lnTo>
                  <a:pt x="9978" y="4019"/>
                </a:lnTo>
                <a:lnTo>
                  <a:pt x="11776" y="3328"/>
                </a:lnTo>
                <a:cubicBezTo>
                  <a:pt x="11847" y="3304"/>
                  <a:pt x="11895" y="3245"/>
                  <a:pt x="11895" y="3173"/>
                </a:cubicBezTo>
                <a:lnTo>
                  <a:pt x="11895" y="2364"/>
                </a:lnTo>
                <a:cubicBezTo>
                  <a:pt x="11943" y="2304"/>
                  <a:pt x="11895" y="2245"/>
                  <a:pt x="11823" y="2221"/>
                </a:cubicBezTo>
                <a:lnTo>
                  <a:pt x="8049" y="792"/>
                </a:lnTo>
                <a:cubicBezTo>
                  <a:pt x="8030" y="784"/>
                  <a:pt x="8010" y="780"/>
                  <a:pt x="7989" y="780"/>
                </a:cubicBezTo>
                <a:cubicBezTo>
                  <a:pt x="7921" y="780"/>
                  <a:pt x="7853" y="823"/>
                  <a:pt x="7835" y="887"/>
                </a:cubicBezTo>
                <a:cubicBezTo>
                  <a:pt x="7799" y="983"/>
                  <a:pt x="7847" y="1090"/>
                  <a:pt x="7930" y="1114"/>
                </a:cubicBezTo>
                <a:lnTo>
                  <a:pt x="11264" y="2376"/>
                </a:lnTo>
                <a:lnTo>
                  <a:pt x="8966" y="3257"/>
                </a:lnTo>
                <a:lnTo>
                  <a:pt x="6061" y="1947"/>
                </a:lnTo>
                <a:cubicBezTo>
                  <a:pt x="6035" y="1934"/>
                  <a:pt x="6010" y="1928"/>
                  <a:pt x="5985" y="1928"/>
                </a:cubicBezTo>
                <a:cubicBezTo>
                  <a:pt x="5918" y="1928"/>
                  <a:pt x="5858" y="1973"/>
                  <a:pt x="5823" y="2042"/>
                </a:cubicBezTo>
                <a:cubicBezTo>
                  <a:pt x="5775" y="2126"/>
                  <a:pt x="5823" y="2233"/>
                  <a:pt x="5906" y="2281"/>
                </a:cubicBezTo>
                <a:lnTo>
                  <a:pt x="8490" y="3435"/>
                </a:lnTo>
                <a:lnTo>
                  <a:pt x="5966" y="4388"/>
                </a:lnTo>
                <a:lnTo>
                  <a:pt x="691" y="2376"/>
                </a:lnTo>
                <a:lnTo>
                  <a:pt x="5966" y="376"/>
                </a:lnTo>
                <a:lnTo>
                  <a:pt x="7263" y="864"/>
                </a:lnTo>
                <a:cubicBezTo>
                  <a:pt x="7282" y="868"/>
                  <a:pt x="7301" y="871"/>
                  <a:pt x="7320" y="871"/>
                </a:cubicBezTo>
                <a:cubicBezTo>
                  <a:pt x="7394" y="871"/>
                  <a:pt x="7461" y="833"/>
                  <a:pt x="7490" y="757"/>
                </a:cubicBezTo>
                <a:cubicBezTo>
                  <a:pt x="7513" y="673"/>
                  <a:pt x="7478" y="566"/>
                  <a:pt x="7382" y="530"/>
                </a:cubicBezTo>
                <a:lnTo>
                  <a:pt x="6013" y="18"/>
                </a:lnTo>
                <a:cubicBezTo>
                  <a:pt x="5989" y="6"/>
                  <a:pt x="5969" y="0"/>
                  <a:pt x="59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91;p18"/>
          <p:cNvSpPr txBox="1">
            <a:spLocks/>
          </p:cNvSpPr>
          <p:nvPr/>
        </p:nvSpPr>
        <p:spPr>
          <a:xfrm>
            <a:off x="704849" y="38100"/>
            <a:ext cx="7953375" cy="847725"/>
          </a:xfrm>
          <a:prstGeom prst="rect">
            <a:avLst/>
          </a:prstGeom>
          <a:noFill/>
          <a:ln>
            <a:noFill/>
          </a:ln>
        </p:spPr>
        <p:txBody>
          <a:bodyPr spcFirstLastPara="1" wrap="square" lIns="91425" tIns="91425" rIns="91425" bIns="91425" anchor="t" anchorCtr="0">
            <a:noAutofit/>
          </a:bodyPr>
          <a:lstStyle/>
          <a:p>
            <a:pPr lvl="0" algn="ctr">
              <a:buClr>
                <a:schemeClr val="lt2"/>
              </a:buClr>
              <a:buSzPts val="3000"/>
            </a:pPr>
            <a:r>
              <a:rPr lang="en-US" sz="3600" b="1" dirty="0">
                <a:solidFill>
                  <a:srgbClr val="FFFF00"/>
                </a:solidFill>
                <a:latin typeface="Segoe UI Black" pitchFamily="34" charset="0"/>
                <a:ea typeface="Segoe UI Black" pitchFamily="34" charset="0"/>
                <a:cs typeface="Rajdhani"/>
                <a:sym typeface="Rajdhani"/>
              </a:rPr>
              <a:t>Methodology</a:t>
            </a:r>
            <a:endParaRPr kumimoji="0" lang="en-US" sz="3600" b="1" i="0" u="none" strike="noStrike" kern="0" cap="none" spc="0" normalizeH="0" baseline="0" noProof="0" dirty="0">
              <a:ln>
                <a:noFill/>
              </a:ln>
              <a:solidFill>
                <a:srgbClr val="FFFF00"/>
              </a:solidFill>
              <a:effectLst/>
              <a:uLnTx/>
              <a:uFillTx/>
              <a:latin typeface="Segoe UI Black" pitchFamily="34" charset="0"/>
              <a:ea typeface="Segoe UI Black" pitchFamily="34" charset="0"/>
              <a:cs typeface="Rajdhani"/>
              <a:sym typeface="Rajdhani"/>
            </a:endParaRPr>
          </a:p>
        </p:txBody>
      </p:sp>
      <p:sp>
        <p:nvSpPr>
          <p:cNvPr id="106" name="Rectangle 105"/>
          <p:cNvSpPr/>
          <p:nvPr/>
        </p:nvSpPr>
        <p:spPr>
          <a:xfrm>
            <a:off x="457200" y="768458"/>
            <a:ext cx="8172450" cy="1754326"/>
          </a:xfrm>
          <a:prstGeom prst="rect">
            <a:avLst/>
          </a:prstGeom>
        </p:spPr>
        <p:txBody>
          <a:bodyPr wrap="square">
            <a:spAutoFit/>
          </a:bodyPr>
          <a:lstStyle/>
          <a:p>
            <a:r>
              <a:rPr lang="en-US" sz="1800" b="1" dirty="0">
                <a:solidFill>
                  <a:srgbClr val="FF0000"/>
                </a:solidFill>
                <a:latin typeface="Söhne"/>
              </a:rPr>
              <a:t>Type of Research:</a:t>
            </a:r>
            <a:r>
              <a:rPr lang="en-US" sz="1800" dirty="0">
                <a:solidFill>
                  <a:srgbClr val="FF0000"/>
                </a:solidFill>
                <a:latin typeface="Söhne"/>
              </a:rPr>
              <a:t> </a:t>
            </a:r>
            <a:r>
              <a:rPr lang="en-US" sz="1800" dirty="0">
                <a:solidFill>
                  <a:schemeClr val="tx2"/>
                </a:solidFill>
                <a:latin typeface="Söhne"/>
              </a:rPr>
              <a:t>The project involves a mix of qualitative and quantitative research. The qualitative aspect is evident in the use of facial landmarks and features, such as head movement, eye states, mouth state, and glasses detection. The quantitative aspect is reflected in the measurement and analysis of these features, including the calculation of angles, distances, and aspect ratios.</a:t>
            </a:r>
            <a:endParaRPr lang="en-US" sz="1800" dirty="0">
              <a:solidFill>
                <a:schemeClr val="tx2"/>
              </a:solidFill>
            </a:endParaRPr>
          </a:p>
        </p:txBody>
      </p:sp>
      <p:sp>
        <p:nvSpPr>
          <p:cNvPr id="111" name="Rectangle 110"/>
          <p:cNvSpPr/>
          <p:nvPr/>
        </p:nvSpPr>
        <p:spPr>
          <a:xfrm>
            <a:off x="473558" y="2503587"/>
            <a:ext cx="8460892" cy="1631216"/>
          </a:xfrm>
          <a:prstGeom prst="rect">
            <a:avLst/>
          </a:prstGeom>
        </p:spPr>
        <p:txBody>
          <a:bodyPr wrap="square">
            <a:spAutoFit/>
          </a:bodyPr>
          <a:lstStyle/>
          <a:p>
            <a:r>
              <a:rPr lang="en-US" sz="1800" b="1" dirty="0">
                <a:solidFill>
                  <a:srgbClr val="FF0000"/>
                </a:solidFill>
                <a:latin typeface="Söhne"/>
              </a:rPr>
              <a:t>Data Collection Methods:</a:t>
            </a:r>
            <a:endParaRPr lang="en-US" sz="1600" dirty="0">
              <a:solidFill>
                <a:schemeClr val="tx2"/>
              </a:solidFill>
            </a:endParaRPr>
          </a:p>
          <a:p>
            <a:r>
              <a:rPr lang="en-US" sz="1600" b="1" dirty="0">
                <a:solidFill>
                  <a:schemeClr val="tx2"/>
                </a:solidFill>
              </a:rPr>
              <a:t>Webcam Data Capture:</a:t>
            </a:r>
            <a:endParaRPr lang="en-US" sz="1600" dirty="0">
              <a:solidFill>
                <a:schemeClr val="tx2"/>
              </a:solidFill>
            </a:endParaRPr>
          </a:p>
          <a:p>
            <a:pPr lvl="1"/>
            <a:r>
              <a:rPr lang="en-US" sz="1600" dirty="0">
                <a:solidFill>
                  <a:schemeClr val="tx2"/>
                </a:solidFill>
              </a:rPr>
              <a:t>Qualitative: Capturing real-time video frames from the webcam.</a:t>
            </a:r>
          </a:p>
          <a:p>
            <a:pPr lvl="1"/>
            <a:r>
              <a:rPr lang="en-US" sz="1600" dirty="0">
                <a:solidFill>
                  <a:schemeClr val="tx2"/>
                </a:solidFill>
              </a:rPr>
              <a:t>Quantitative: Analyzing facial features, calculating angles, </a:t>
            </a:r>
          </a:p>
          <a:p>
            <a:pPr lvl="1"/>
            <a:r>
              <a:rPr lang="en-US" sz="1600" dirty="0">
                <a:solidFill>
                  <a:schemeClr val="tx2"/>
                </a:solidFill>
              </a:rPr>
              <a:t>distances, eye aspect ratio, mouth aspect ratio, and detecting glasses.</a:t>
            </a:r>
          </a:p>
          <a:p>
            <a:endParaRPr lang="en-US" sz="1800" dirty="0">
              <a:solidFill>
                <a:schemeClr val="tx2"/>
              </a:solidFill>
            </a:endParaRPr>
          </a:p>
        </p:txBody>
      </p:sp>
      <p:sp>
        <p:nvSpPr>
          <p:cNvPr id="112" name="Rectangle 111"/>
          <p:cNvSpPr/>
          <p:nvPr/>
        </p:nvSpPr>
        <p:spPr>
          <a:xfrm>
            <a:off x="521183" y="3837087"/>
            <a:ext cx="3044423" cy="369332"/>
          </a:xfrm>
          <a:prstGeom prst="rect">
            <a:avLst/>
          </a:prstGeom>
        </p:spPr>
        <p:txBody>
          <a:bodyPr wrap="none">
            <a:spAutoFit/>
          </a:bodyPr>
          <a:lstStyle/>
          <a:p>
            <a:r>
              <a:rPr lang="en-US" sz="1800" b="1" dirty="0">
                <a:solidFill>
                  <a:srgbClr val="FF0000"/>
                </a:solidFill>
                <a:latin typeface="Söhne"/>
              </a:rPr>
              <a:t>Tools and Materials Used:</a:t>
            </a:r>
            <a:endParaRPr lang="en-US" sz="1800" dirty="0">
              <a:solidFill>
                <a:srgbClr val="FF0000"/>
              </a:solidFill>
            </a:endParaRPr>
          </a:p>
        </p:txBody>
      </p:sp>
      <p:pic>
        <p:nvPicPr>
          <p:cNvPr id="55301" name="Picture 5" descr="NumPy - Wikipedia"/>
          <p:cNvPicPr>
            <a:picLocks noChangeAspect="1" noChangeArrowheads="1"/>
          </p:cNvPicPr>
          <p:nvPr/>
        </p:nvPicPr>
        <p:blipFill>
          <a:blip r:embed="rId3"/>
          <a:srcRect/>
          <a:stretch>
            <a:fillRect/>
          </a:stretch>
        </p:blipFill>
        <p:spPr bwMode="auto">
          <a:xfrm>
            <a:off x="523875" y="4241324"/>
            <a:ext cx="1758950" cy="791528"/>
          </a:xfrm>
          <a:prstGeom prst="rect">
            <a:avLst/>
          </a:prstGeom>
          <a:noFill/>
        </p:spPr>
      </p:pic>
      <p:sp>
        <p:nvSpPr>
          <p:cNvPr id="55303" name="AutoShape 7" descr="Python Logo PNG Transparent – Brands Log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5305" name="AutoShape 9" descr="Python Logo PNG Transparent – Brands Log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5307" name="AutoShape 11" descr="Python Logo PNG Transparent – Brands Logo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5309" name="Picture 13" descr="Media Kit - OpenCV"/>
          <p:cNvPicPr>
            <a:picLocks noChangeAspect="1" noChangeArrowheads="1"/>
          </p:cNvPicPr>
          <p:nvPr/>
        </p:nvPicPr>
        <p:blipFill>
          <a:blip r:embed="rId4"/>
          <a:srcRect/>
          <a:stretch>
            <a:fillRect/>
          </a:stretch>
        </p:blipFill>
        <p:spPr bwMode="auto">
          <a:xfrm>
            <a:off x="7213601" y="3913187"/>
            <a:ext cx="823740" cy="1087438"/>
          </a:xfrm>
          <a:prstGeom prst="rect">
            <a:avLst/>
          </a:prstGeom>
          <a:noFill/>
        </p:spPr>
      </p:pic>
      <p:pic>
        <p:nvPicPr>
          <p:cNvPr id="55311" name="Picture 15" descr="Face Detection and Recognition with face_recognition | by Dhanpal Singh  Rajpurohit | Medium"/>
          <p:cNvPicPr>
            <a:picLocks noChangeAspect="1" noChangeArrowheads="1"/>
          </p:cNvPicPr>
          <p:nvPr/>
        </p:nvPicPr>
        <p:blipFill>
          <a:blip r:embed="rId5"/>
          <a:srcRect/>
          <a:stretch>
            <a:fillRect/>
          </a:stretch>
        </p:blipFill>
        <p:spPr bwMode="auto">
          <a:xfrm>
            <a:off x="5238750" y="4163640"/>
            <a:ext cx="1320800" cy="880220"/>
          </a:xfrm>
          <a:prstGeom prst="rect">
            <a:avLst/>
          </a:prstGeom>
          <a:noFill/>
        </p:spPr>
      </p:pic>
      <p:pic>
        <p:nvPicPr>
          <p:cNvPr id="55313" name="Picture 17" descr="Python os Module - DEV Community"/>
          <p:cNvPicPr>
            <a:picLocks noChangeAspect="1" noChangeArrowheads="1"/>
          </p:cNvPicPr>
          <p:nvPr/>
        </p:nvPicPr>
        <p:blipFill>
          <a:blip r:embed="rId6"/>
          <a:srcRect/>
          <a:stretch>
            <a:fillRect/>
          </a:stretch>
        </p:blipFill>
        <p:spPr bwMode="auto">
          <a:xfrm>
            <a:off x="2752724" y="4198811"/>
            <a:ext cx="1974849" cy="829437"/>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53" name="Google Shape;91;p18"/>
          <p:cNvSpPr txBox="1">
            <a:spLocks/>
          </p:cNvSpPr>
          <p:nvPr/>
        </p:nvSpPr>
        <p:spPr>
          <a:xfrm>
            <a:off x="704849" y="-47625"/>
            <a:ext cx="7953375" cy="847725"/>
          </a:xfrm>
          <a:prstGeom prst="rect">
            <a:avLst/>
          </a:prstGeom>
          <a:noFill/>
          <a:ln>
            <a:noFill/>
          </a:ln>
        </p:spPr>
        <p:txBody>
          <a:bodyPr spcFirstLastPara="1" wrap="square" lIns="91425" tIns="91425" rIns="91425" bIns="91425" anchor="t" anchorCtr="0">
            <a:noAutofit/>
          </a:bodyPr>
          <a:lstStyle/>
          <a:p>
            <a:pPr lvl="0" algn="ctr">
              <a:buClr>
                <a:schemeClr val="lt2"/>
              </a:buClr>
              <a:buSzPts val="3000"/>
            </a:pPr>
            <a:r>
              <a:rPr lang="en-US" sz="3600" b="1" dirty="0">
                <a:solidFill>
                  <a:srgbClr val="FFFF00"/>
                </a:solidFill>
                <a:latin typeface="Segoe UI Black" pitchFamily="34" charset="0"/>
                <a:ea typeface="Segoe UI Black" pitchFamily="34" charset="0"/>
                <a:cs typeface="Rajdhani"/>
                <a:sym typeface="Rajdhani"/>
              </a:rPr>
              <a:t>Scope and Limitations </a:t>
            </a:r>
            <a:endParaRPr kumimoji="0" lang="en-US" sz="3600" b="1" i="0" u="none" strike="noStrike" kern="0" cap="none" spc="0" normalizeH="0" baseline="0" noProof="0" dirty="0">
              <a:ln>
                <a:noFill/>
              </a:ln>
              <a:solidFill>
                <a:srgbClr val="FFFF00"/>
              </a:solidFill>
              <a:effectLst/>
              <a:uLnTx/>
              <a:uFillTx/>
              <a:latin typeface="Segoe UI Black" pitchFamily="34" charset="0"/>
              <a:ea typeface="Segoe UI Black" pitchFamily="34" charset="0"/>
              <a:cs typeface="Rajdhani"/>
              <a:sym typeface="Rajdhani"/>
            </a:endParaRPr>
          </a:p>
        </p:txBody>
      </p:sp>
      <p:sp>
        <p:nvSpPr>
          <p:cNvPr id="55" name="Rectangle 54"/>
          <p:cNvSpPr/>
          <p:nvPr/>
        </p:nvSpPr>
        <p:spPr>
          <a:xfrm>
            <a:off x="650110" y="617637"/>
            <a:ext cx="2557110" cy="369332"/>
          </a:xfrm>
          <a:prstGeom prst="rect">
            <a:avLst/>
          </a:prstGeom>
        </p:spPr>
        <p:txBody>
          <a:bodyPr wrap="none">
            <a:spAutoFit/>
          </a:bodyPr>
          <a:lstStyle/>
          <a:p>
            <a:r>
              <a:rPr lang="en-US" sz="1800" b="1" dirty="0">
                <a:solidFill>
                  <a:schemeClr val="tx2"/>
                </a:solidFill>
              </a:rPr>
              <a:t>Scope of your study:-</a:t>
            </a:r>
          </a:p>
        </p:txBody>
      </p:sp>
      <p:sp>
        <p:nvSpPr>
          <p:cNvPr id="56" name="Rectangle 55"/>
          <p:cNvSpPr/>
          <p:nvPr/>
        </p:nvSpPr>
        <p:spPr>
          <a:xfrm>
            <a:off x="409574" y="988010"/>
            <a:ext cx="8505825" cy="3416320"/>
          </a:xfrm>
          <a:prstGeom prst="rect">
            <a:avLst/>
          </a:prstGeom>
        </p:spPr>
        <p:txBody>
          <a:bodyPr wrap="square">
            <a:spAutoFit/>
          </a:bodyPr>
          <a:lstStyle/>
          <a:p>
            <a:r>
              <a:rPr lang="en-US" sz="1200" dirty="0">
                <a:solidFill>
                  <a:schemeClr val="tx2"/>
                </a:solidFill>
              </a:rPr>
              <a:t>The scope of this study encompasses the development and implementation of an automated attendance tracking system utilizing real-time facial recognition technology. Key components and aspects within the scope of the study include:</a:t>
            </a:r>
          </a:p>
          <a:p>
            <a:endParaRPr lang="en-US" sz="1200" dirty="0">
              <a:solidFill>
                <a:schemeClr val="tx2"/>
              </a:solidFill>
            </a:endParaRPr>
          </a:p>
          <a:p>
            <a:r>
              <a:rPr lang="en-US" sz="1200" b="1" dirty="0">
                <a:solidFill>
                  <a:schemeClr val="tx2"/>
                </a:solidFill>
              </a:rPr>
              <a:t>Facial Recognition System:</a:t>
            </a:r>
            <a:endParaRPr lang="en-US" sz="1200" dirty="0">
              <a:solidFill>
                <a:schemeClr val="tx2"/>
              </a:solidFill>
            </a:endParaRPr>
          </a:p>
          <a:p>
            <a:pPr lvl="1"/>
            <a:r>
              <a:rPr lang="en-US" sz="1200" dirty="0">
                <a:solidFill>
                  <a:schemeClr val="tx2"/>
                </a:solidFill>
              </a:rPr>
              <a:t>Design and implementation of a robust facial recognition system capable of identifying individuals in real-time using computer vision and deep learning techniques.</a:t>
            </a:r>
          </a:p>
          <a:p>
            <a:pPr lvl="1"/>
            <a:endParaRPr lang="en-US" sz="1200" dirty="0">
              <a:solidFill>
                <a:schemeClr val="tx2"/>
              </a:solidFill>
            </a:endParaRPr>
          </a:p>
          <a:p>
            <a:r>
              <a:rPr lang="en-US" sz="1200" b="1" dirty="0">
                <a:solidFill>
                  <a:schemeClr val="tx2"/>
                </a:solidFill>
              </a:rPr>
              <a:t>Additional Facial Feature Analysis:</a:t>
            </a:r>
            <a:endParaRPr lang="en-US" sz="1200" dirty="0">
              <a:solidFill>
                <a:schemeClr val="tx2"/>
              </a:solidFill>
            </a:endParaRPr>
          </a:p>
          <a:p>
            <a:pPr lvl="1"/>
            <a:r>
              <a:rPr lang="en-US" sz="1200" dirty="0">
                <a:solidFill>
                  <a:schemeClr val="tx2"/>
                </a:solidFill>
              </a:rPr>
              <a:t>Integration of advanced facial feature analysis, including but not limited to head movement, eye states, mouth state, and gender prediction, to provide a more detailed understanding of attendee behavior.</a:t>
            </a:r>
          </a:p>
          <a:p>
            <a:pPr lvl="1"/>
            <a:endParaRPr lang="en-US" sz="1200" dirty="0">
              <a:solidFill>
                <a:schemeClr val="tx2"/>
              </a:solidFill>
            </a:endParaRPr>
          </a:p>
          <a:p>
            <a:r>
              <a:rPr lang="en-US" sz="1200" b="1" dirty="0">
                <a:solidFill>
                  <a:schemeClr val="tx2"/>
                </a:solidFill>
              </a:rPr>
              <a:t>Data Collection and Storage:</a:t>
            </a:r>
            <a:endParaRPr lang="en-US" sz="1200" dirty="0">
              <a:solidFill>
                <a:schemeClr val="tx2"/>
              </a:solidFill>
            </a:endParaRPr>
          </a:p>
          <a:p>
            <a:pPr lvl="1"/>
            <a:r>
              <a:rPr lang="en-US" sz="1200" dirty="0">
                <a:solidFill>
                  <a:schemeClr val="tx2"/>
                </a:solidFill>
              </a:rPr>
              <a:t>Implementation of data collection mechanisms to record attendance and associated facial features. Storage of this data in a structured format, such as a CSV file, for further analysis.</a:t>
            </a:r>
          </a:p>
          <a:p>
            <a:pPr lvl="1"/>
            <a:endParaRPr lang="en-US" sz="1200" dirty="0">
              <a:solidFill>
                <a:schemeClr val="tx2"/>
              </a:solidFill>
            </a:endParaRPr>
          </a:p>
          <a:p>
            <a:r>
              <a:rPr lang="en-US" sz="1200" b="1" dirty="0">
                <a:solidFill>
                  <a:schemeClr val="tx2"/>
                </a:solidFill>
              </a:rPr>
              <a:t>Webcam Integration:</a:t>
            </a:r>
            <a:endParaRPr lang="en-US" sz="1200" dirty="0">
              <a:solidFill>
                <a:schemeClr val="tx2"/>
              </a:solidFill>
            </a:endParaRPr>
          </a:p>
          <a:p>
            <a:pPr lvl="1"/>
            <a:r>
              <a:rPr lang="en-US" sz="1200" dirty="0">
                <a:solidFill>
                  <a:schemeClr val="tx2"/>
                </a:solidFill>
              </a:rPr>
              <a:t>Utilization of a webcam for real-time video capture, allowing the system to operate seamlessly in various educational or organizational settings.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63" name="Google Shape;91;p18"/>
          <p:cNvSpPr txBox="1">
            <a:spLocks/>
          </p:cNvSpPr>
          <p:nvPr/>
        </p:nvSpPr>
        <p:spPr>
          <a:xfrm>
            <a:off x="708729" y="49840"/>
            <a:ext cx="7953375" cy="847725"/>
          </a:xfrm>
          <a:prstGeom prst="rect">
            <a:avLst/>
          </a:prstGeom>
          <a:noFill/>
          <a:ln>
            <a:noFill/>
          </a:ln>
        </p:spPr>
        <p:txBody>
          <a:bodyPr spcFirstLastPara="1" wrap="square" lIns="91425" tIns="91425" rIns="91425" bIns="91425" anchor="t" anchorCtr="0">
            <a:noAutofit/>
          </a:bodyPr>
          <a:lstStyle/>
          <a:p>
            <a:pPr lvl="0" algn="ctr">
              <a:buClr>
                <a:schemeClr val="lt2"/>
              </a:buClr>
              <a:buSzPts val="3000"/>
            </a:pPr>
            <a:r>
              <a:rPr lang="en-US" sz="3600" b="1" dirty="0">
                <a:solidFill>
                  <a:srgbClr val="FFFF00"/>
                </a:solidFill>
                <a:latin typeface="Segoe UI Black" pitchFamily="34" charset="0"/>
                <a:ea typeface="Segoe UI Black" pitchFamily="34" charset="0"/>
              </a:rPr>
              <a:t>Project Timeline</a:t>
            </a:r>
            <a:endParaRPr kumimoji="0" lang="en-US" sz="3600" b="1" i="0" u="none" strike="noStrike" kern="0" cap="none" spc="0" normalizeH="0" baseline="0" noProof="0" dirty="0">
              <a:ln>
                <a:noFill/>
              </a:ln>
              <a:solidFill>
                <a:srgbClr val="FFFF00"/>
              </a:solidFill>
              <a:effectLst/>
              <a:uLnTx/>
              <a:uFillTx/>
              <a:latin typeface="Segoe UI Black" pitchFamily="34" charset="0"/>
              <a:ea typeface="Segoe UI Black" pitchFamily="34" charset="0"/>
              <a:cs typeface="Rajdhani"/>
              <a:sym typeface="Rajdhani"/>
            </a:endParaRPr>
          </a:p>
        </p:txBody>
      </p:sp>
      <p:sp>
        <p:nvSpPr>
          <p:cNvPr id="2" name="TextBox 1">
            <a:extLst>
              <a:ext uri="{FF2B5EF4-FFF2-40B4-BE49-F238E27FC236}">
                <a16:creationId xmlns:a16="http://schemas.microsoft.com/office/drawing/2014/main" id="{369ADD20-6709-4F3C-8960-148D87F628AB}"/>
              </a:ext>
            </a:extLst>
          </p:cNvPr>
          <p:cNvSpPr txBox="1"/>
          <p:nvPr/>
        </p:nvSpPr>
        <p:spPr>
          <a:xfrm>
            <a:off x="543814" y="694659"/>
            <a:ext cx="4028190" cy="4185761"/>
          </a:xfrm>
          <a:prstGeom prst="rect">
            <a:avLst/>
          </a:prstGeom>
          <a:noFill/>
        </p:spPr>
        <p:txBody>
          <a:bodyPr wrap="square" rtlCol="0">
            <a:spAutoFit/>
          </a:bodyPr>
          <a:lstStyle/>
          <a:p>
            <a:pPr marL="342900" indent="-342900" algn="just">
              <a:buClr>
                <a:srgbClr val="FF0000"/>
              </a:buClr>
              <a:buFont typeface="+mj-lt"/>
              <a:buAutoNum type="arabicPeriod"/>
            </a:pPr>
            <a:r>
              <a:rPr lang="en-US" b="1" dirty="0">
                <a:solidFill>
                  <a:srgbClr val="FF0000"/>
                </a:solidFill>
              </a:rPr>
              <a:t>Planning and Research (2-3 months):</a:t>
            </a:r>
            <a:endParaRPr lang="en-US" dirty="0">
              <a:solidFill>
                <a:srgbClr val="FF0000"/>
              </a:solidFill>
            </a:endParaRPr>
          </a:p>
          <a:p>
            <a:pPr marL="285750" lvl="1" indent="-285750" algn="just">
              <a:buClr>
                <a:schemeClr val="accent4"/>
              </a:buClr>
              <a:buFont typeface="Wingdings" panose="05000000000000000000" pitchFamily="2" charset="2"/>
              <a:buChar char="q"/>
            </a:pPr>
            <a:r>
              <a:rPr lang="en-US" dirty="0">
                <a:solidFill>
                  <a:schemeClr val="tx2"/>
                </a:solidFill>
              </a:rPr>
              <a:t>Define project objectives and team roles.</a:t>
            </a:r>
          </a:p>
          <a:p>
            <a:pPr marL="285750" lvl="1" indent="-285750" algn="just">
              <a:buClr>
                <a:schemeClr val="accent4"/>
              </a:buClr>
              <a:buFont typeface="Wingdings" panose="05000000000000000000" pitchFamily="2" charset="2"/>
              <a:buChar char="q"/>
            </a:pPr>
            <a:r>
              <a:rPr lang="en-US" dirty="0">
                <a:solidFill>
                  <a:schemeClr val="tx2"/>
                </a:solidFill>
              </a:rPr>
              <a:t>Conduct literature review and requirements analysis.</a:t>
            </a:r>
          </a:p>
          <a:p>
            <a:pPr marL="285750" lvl="1" indent="-285750" algn="just">
              <a:buClr>
                <a:schemeClr val="accent4"/>
              </a:buClr>
              <a:buFont typeface="Wingdings" panose="05000000000000000000" pitchFamily="2" charset="2"/>
              <a:buChar char="q"/>
            </a:pPr>
            <a:r>
              <a:rPr lang="en-US" dirty="0">
                <a:solidFill>
                  <a:schemeClr val="tx2"/>
                </a:solidFill>
              </a:rPr>
              <a:t>Develop high-level system architecture.</a:t>
            </a:r>
          </a:p>
          <a:p>
            <a:pPr marL="342900" indent="-342900" algn="just">
              <a:buClr>
                <a:srgbClr val="FF0000"/>
              </a:buClr>
              <a:buFont typeface="+mj-lt"/>
              <a:buAutoNum type="arabicPeriod"/>
            </a:pPr>
            <a:r>
              <a:rPr lang="en-US" b="1" dirty="0">
                <a:solidFill>
                  <a:srgbClr val="FF0000"/>
                </a:solidFill>
              </a:rPr>
              <a:t>Development (4-6 months):</a:t>
            </a:r>
            <a:endParaRPr lang="en-US" dirty="0">
              <a:solidFill>
                <a:srgbClr val="FF0000"/>
              </a:solidFill>
            </a:endParaRPr>
          </a:p>
          <a:p>
            <a:pPr marL="285750" lvl="1" indent="-285750" algn="just">
              <a:buClr>
                <a:schemeClr val="accent4"/>
              </a:buClr>
              <a:buFont typeface="Wingdings" panose="05000000000000000000" pitchFamily="2" charset="2"/>
              <a:buChar char="q"/>
            </a:pPr>
            <a:r>
              <a:rPr lang="en-US" dirty="0">
                <a:solidFill>
                  <a:schemeClr val="tx2"/>
                </a:solidFill>
              </a:rPr>
              <a:t>Develop and optimize AI models for camera detection.</a:t>
            </a:r>
          </a:p>
          <a:p>
            <a:pPr marL="285750" lvl="1" indent="-285750" algn="just">
              <a:buClr>
                <a:schemeClr val="accent4"/>
              </a:buClr>
              <a:buFont typeface="Wingdings" panose="05000000000000000000" pitchFamily="2" charset="2"/>
              <a:buChar char="q"/>
            </a:pPr>
            <a:r>
              <a:rPr lang="en-US" dirty="0">
                <a:solidFill>
                  <a:schemeClr val="tx2"/>
                </a:solidFill>
              </a:rPr>
              <a:t>Implement the online examination system with security features.</a:t>
            </a:r>
          </a:p>
          <a:p>
            <a:pPr marL="285750" lvl="1" indent="-285750" algn="just">
              <a:buClr>
                <a:schemeClr val="accent4"/>
              </a:buClr>
              <a:buFont typeface="Wingdings" panose="05000000000000000000" pitchFamily="2" charset="2"/>
              <a:buChar char="q"/>
            </a:pPr>
            <a:r>
              <a:rPr lang="en-US" dirty="0">
                <a:solidFill>
                  <a:schemeClr val="tx2"/>
                </a:solidFill>
              </a:rPr>
              <a:t>Perform comprehensive testing and security assessments.</a:t>
            </a:r>
          </a:p>
          <a:p>
            <a:pPr marL="342900" indent="-342900" algn="just">
              <a:buClr>
                <a:srgbClr val="FF0000"/>
              </a:buClr>
              <a:buFont typeface="+mj-lt"/>
              <a:buAutoNum type="arabicPeriod"/>
            </a:pPr>
            <a:r>
              <a:rPr lang="en-US" b="1" dirty="0">
                <a:solidFill>
                  <a:srgbClr val="FF0000"/>
                </a:solidFill>
              </a:rPr>
              <a:t>Testing and Optimization (2-3 months):</a:t>
            </a:r>
            <a:endParaRPr lang="en-US" dirty="0">
              <a:solidFill>
                <a:srgbClr val="FF0000"/>
              </a:solidFill>
            </a:endParaRPr>
          </a:p>
          <a:p>
            <a:pPr marL="285750" lvl="1" indent="-285750" algn="just">
              <a:buClr>
                <a:schemeClr val="accent4"/>
              </a:buClr>
              <a:buFont typeface="Wingdings" panose="05000000000000000000" pitchFamily="2" charset="2"/>
              <a:buChar char="q"/>
            </a:pPr>
            <a:r>
              <a:rPr lang="en-US" dirty="0">
                <a:solidFill>
                  <a:schemeClr val="tx2"/>
                </a:solidFill>
              </a:rPr>
              <a:t>Conduct system testing and identify and fix bugs.</a:t>
            </a:r>
          </a:p>
          <a:p>
            <a:pPr marL="285750" lvl="1" indent="-285750" algn="just">
              <a:buClr>
                <a:schemeClr val="accent4"/>
              </a:buClr>
              <a:buFont typeface="Wingdings" panose="05000000000000000000" pitchFamily="2" charset="2"/>
              <a:buChar char="q"/>
            </a:pPr>
            <a:r>
              <a:rPr lang="en-US" dirty="0">
                <a:solidFill>
                  <a:schemeClr val="tx2"/>
                </a:solidFill>
              </a:rPr>
              <a:t>Optimize system performance for scalability.</a:t>
            </a:r>
          </a:p>
          <a:p>
            <a:pPr marL="285750" lvl="1" indent="-285750" algn="just">
              <a:buClr>
                <a:schemeClr val="accent4"/>
              </a:buClr>
              <a:buFont typeface="Wingdings" panose="05000000000000000000" pitchFamily="2" charset="2"/>
              <a:buChar char="q"/>
            </a:pPr>
            <a:r>
              <a:rPr lang="en-US" dirty="0">
                <a:solidFill>
                  <a:schemeClr val="tx2"/>
                </a:solidFill>
              </a:rPr>
              <a:t>Conduct stress testing and implement improvements.</a:t>
            </a:r>
          </a:p>
          <a:p>
            <a:pPr algn="just"/>
            <a:endParaRPr lang="en-IN" dirty="0"/>
          </a:p>
        </p:txBody>
      </p:sp>
      <p:sp>
        <p:nvSpPr>
          <p:cNvPr id="3" name="TextBox 2">
            <a:extLst>
              <a:ext uri="{FF2B5EF4-FFF2-40B4-BE49-F238E27FC236}">
                <a16:creationId xmlns:a16="http://schemas.microsoft.com/office/drawing/2014/main" id="{14497856-274E-460C-AA9C-DD7234B8A6FB}"/>
              </a:ext>
            </a:extLst>
          </p:cNvPr>
          <p:cNvSpPr txBox="1"/>
          <p:nvPr/>
        </p:nvSpPr>
        <p:spPr>
          <a:xfrm>
            <a:off x="4791853" y="721028"/>
            <a:ext cx="3870251" cy="4401205"/>
          </a:xfrm>
          <a:prstGeom prst="rect">
            <a:avLst/>
          </a:prstGeom>
          <a:noFill/>
        </p:spPr>
        <p:txBody>
          <a:bodyPr wrap="square" rtlCol="0">
            <a:spAutoFit/>
          </a:bodyPr>
          <a:lstStyle/>
          <a:p>
            <a:pPr marL="342900" indent="-342900" algn="just">
              <a:buClr>
                <a:srgbClr val="FF0000"/>
              </a:buClr>
              <a:buFont typeface="+mj-lt"/>
              <a:buAutoNum type="arabicPeriod" startAt="4"/>
            </a:pPr>
            <a:r>
              <a:rPr lang="en-US" b="1" dirty="0">
                <a:solidFill>
                  <a:srgbClr val="FF0000"/>
                </a:solidFill>
              </a:rPr>
              <a:t>Deployment and Evaluation (1-2 months):</a:t>
            </a:r>
            <a:endParaRPr lang="en-US" dirty="0">
              <a:solidFill>
                <a:srgbClr val="FF0000"/>
              </a:solidFill>
            </a:endParaRPr>
          </a:p>
          <a:p>
            <a:pPr marL="285750" lvl="1" indent="-285750" algn="just">
              <a:buClr>
                <a:schemeClr val="accent4"/>
              </a:buClr>
              <a:buFont typeface="Wingdings" panose="05000000000000000000" pitchFamily="2" charset="2"/>
              <a:buChar char="q"/>
            </a:pPr>
            <a:r>
              <a:rPr lang="en-US" dirty="0">
                <a:solidFill>
                  <a:schemeClr val="tx2"/>
                </a:solidFill>
              </a:rPr>
              <a:t>Deploy the system on a staging environment.</a:t>
            </a:r>
          </a:p>
          <a:p>
            <a:pPr marL="285750" lvl="1" indent="-285750" algn="just">
              <a:buClr>
                <a:schemeClr val="accent4"/>
              </a:buClr>
              <a:buFont typeface="Wingdings" panose="05000000000000000000" pitchFamily="2" charset="2"/>
              <a:buChar char="q"/>
            </a:pPr>
            <a:r>
              <a:rPr lang="en-US" dirty="0">
                <a:solidFill>
                  <a:schemeClr val="tx2"/>
                </a:solidFill>
              </a:rPr>
              <a:t>Conduct a soft launch and gather user feedback.</a:t>
            </a:r>
          </a:p>
          <a:p>
            <a:pPr marL="285750" lvl="1" indent="-285750" algn="just">
              <a:buClr>
                <a:schemeClr val="accent4"/>
              </a:buClr>
              <a:buFont typeface="Wingdings" panose="05000000000000000000" pitchFamily="2" charset="2"/>
              <a:buChar char="q"/>
            </a:pPr>
            <a:r>
              <a:rPr lang="en-US" dirty="0">
                <a:solidFill>
                  <a:schemeClr val="tx2"/>
                </a:solidFill>
              </a:rPr>
              <a:t>Evaluate system performance and make final adjustments.</a:t>
            </a:r>
          </a:p>
          <a:p>
            <a:pPr marL="342900" indent="-342900" algn="just">
              <a:buClr>
                <a:srgbClr val="FF0000"/>
              </a:buClr>
              <a:buFont typeface="+mj-lt"/>
              <a:buAutoNum type="arabicPeriod" startAt="4"/>
            </a:pPr>
            <a:r>
              <a:rPr lang="en-US" b="1" dirty="0">
                <a:solidFill>
                  <a:srgbClr val="FF0000"/>
                </a:solidFill>
              </a:rPr>
              <a:t>Documentation and Training (1 month):</a:t>
            </a:r>
            <a:endParaRPr lang="en-US" dirty="0">
              <a:solidFill>
                <a:srgbClr val="FF0000"/>
              </a:solidFill>
            </a:endParaRPr>
          </a:p>
          <a:p>
            <a:pPr marL="285750" lvl="1" indent="-285750" algn="just">
              <a:buClr>
                <a:schemeClr val="accent4"/>
              </a:buClr>
              <a:buFont typeface="Wingdings" panose="05000000000000000000" pitchFamily="2" charset="2"/>
              <a:buChar char="q"/>
            </a:pPr>
            <a:r>
              <a:rPr lang="en-US" dirty="0">
                <a:solidFill>
                  <a:schemeClr val="tx2"/>
                </a:solidFill>
              </a:rPr>
              <a:t>Create user manuals and system documentation.</a:t>
            </a:r>
          </a:p>
          <a:p>
            <a:pPr marL="285750" lvl="1" indent="-285750" algn="just">
              <a:buClr>
                <a:schemeClr val="accent4"/>
              </a:buClr>
              <a:buFont typeface="Wingdings" panose="05000000000000000000" pitchFamily="2" charset="2"/>
              <a:buChar char="q"/>
            </a:pPr>
            <a:r>
              <a:rPr lang="en-US" dirty="0">
                <a:solidFill>
                  <a:schemeClr val="tx2"/>
                </a:solidFill>
              </a:rPr>
              <a:t>Provide training sessions for administrators.</a:t>
            </a:r>
          </a:p>
          <a:p>
            <a:pPr marL="285750" lvl="1" indent="-285750" algn="just">
              <a:buClr>
                <a:schemeClr val="accent4"/>
              </a:buClr>
              <a:buFont typeface="Wingdings" panose="05000000000000000000" pitchFamily="2" charset="2"/>
              <a:buChar char="q"/>
            </a:pPr>
            <a:r>
              <a:rPr lang="en-US" dirty="0">
                <a:solidFill>
                  <a:schemeClr val="tx2"/>
                </a:solidFill>
              </a:rPr>
              <a:t>Document AI model training processes.</a:t>
            </a:r>
          </a:p>
          <a:p>
            <a:pPr marL="342900" indent="-342900" algn="just">
              <a:buClr>
                <a:srgbClr val="FF0000"/>
              </a:buClr>
              <a:buFont typeface="+mj-lt"/>
              <a:buAutoNum type="arabicPeriod" startAt="4"/>
            </a:pPr>
            <a:r>
              <a:rPr lang="en-US" b="1" dirty="0">
                <a:solidFill>
                  <a:srgbClr val="FF0000"/>
                </a:solidFill>
              </a:rPr>
              <a:t>Maintenance and Updates (Ongoing):</a:t>
            </a:r>
            <a:endParaRPr lang="en-US" dirty="0">
              <a:solidFill>
                <a:srgbClr val="FF0000"/>
              </a:solidFill>
            </a:endParaRPr>
          </a:p>
          <a:p>
            <a:pPr marL="285750" lvl="1" indent="-285750" algn="just">
              <a:buClr>
                <a:schemeClr val="accent4"/>
              </a:buClr>
              <a:buFont typeface="Wingdings" panose="05000000000000000000" pitchFamily="2" charset="2"/>
              <a:buChar char="q"/>
            </a:pPr>
            <a:r>
              <a:rPr lang="en-US" dirty="0">
                <a:solidFill>
                  <a:schemeClr val="tx2"/>
                </a:solidFill>
              </a:rPr>
              <a:t>Establish a maintenance plan for ongoing support.</a:t>
            </a:r>
          </a:p>
          <a:p>
            <a:pPr marL="285750" lvl="1" indent="-285750" algn="just">
              <a:buClr>
                <a:schemeClr val="accent4"/>
              </a:buClr>
              <a:buFont typeface="Wingdings" panose="05000000000000000000" pitchFamily="2" charset="2"/>
              <a:buChar char="q"/>
            </a:pPr>
            <a:r>
              <a:rPr lang="en-US" dirty="0">
                <a:solidFill>
                  <a:schemeClr val="tx2"/>
                </a:solidFill>
              </a:rPr>
              <a:t>Monitor system performance and security.</a:t>
            </a:r>
          </a:p>
          <a:p>
            <a:pPr marL="285750" lvl="1" indent="-285750" algn="just">
              <a:buClr>
                <a:schemeClr val="accent4"/>
              </a:buClr>
              <a:buFont typeface="Wingdings" panose="05000000000000000000" pitchFamily="2" charset="2"/>
              <a:buChar char="q"/>
            </a:pPr>
            <a:r>
              <a:rPr lang="en-US" dirty="0">
                <a:solidFill>
                  <a:schemeClr val="tx2"/>
                </a:solidFill>
              </a:rPr>
              <a:t>Plan for future enhancements and updates.</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5"/>
          <p:cNvSpPr txBox="1">
            <a:spLocks noGrp="1"/>
          </p:cNvSpPr>
          <p:nvPr>
            <p:ph type="title"/>
          </p:nvPr>
        </p:nvSpPr>
        <p:spPr>
          <a:xfrm>
            <a:off x="758200" y="25150"/>
            <a:ext cx="7704000" cy="572700"/>
          </a:xfrm>
          <a:prstGeom prst="rect">
            <a:avLst/>
          </a:prstGeom>
        </p:spPr>
        <p:txBody>
          <a:bodyPr spcFirstLastPara="1" wrap="square" lIns="91425" tIns="91425" rIns="91425" bIns="91425" anchor="t" anchorCtr="0">
            <a:noAutofit/>
          </a:bodyPr>
          <a:lstStyle/>
          <a:p>
            <a:pPr lvl="0"/>
            <a:r>
              <a:rPr lang="en-US" dirty="0">
                <a:solidFill>
                  <a:srgbClr val="FFFF00"/>
                </a:solidFill>
                <a:latin typeface="Segoe UI Black" pitchFamily="34" charset="0"/>
                <a:ea typeface="Segoe UI Black" pitchFamily="34" charset="0"/>
              </a:rPr>
              <a:t>Presentation of collected data</a:t>
            </a:r>
            <a:endParaRPr>
              <a:solidFill>
                <a:srgbClr val="FFFF00"/>
              </a:solidFill>
              <a:latin typeface="Segoe UI Black" pitchFamily="34" charset="0"/>
              <a:ea typeface="Segoe UI Black" pitchFamily="34" charset="0"/>
            </a:endParaRPr>
          </a:p>
        </p:txBody>
      </p:sp>
      <p:sp>
        <p:nvSpPr>
          <p:cNvPr id="29" name="TextBox 28"/>
          <p:cNvSpPr txBox="1"/>
          <p:nvPr/>
        </p:nvSpPr>
        <p:spPr>
          <a:xfrm>
            <a:off x="2066925" y="2228850"/>
            <a:ext cx="5145961" cy="769441"/>
          </a:xfrm>
          <a:prstGeom prst="rect">
            <a:avLst/>
          </a:prstGeom>
          <a:noFill/>
        </p:spPr>
        <p:txBody>
          <a:bodyPr wrap="none" rtlCol="0">
            <a:spAutoFit/>
          </a:bodyPr>
          <a:lstStyle/>
          <a:p>
            <a:r>
              <a:rPr lang="en-US" sz="4400" dirty="0"/>
              <a:t>Image </a:t>
            </a:r>
            <a:r>
              <a:rPr lang="en-US" sz="4400" dirty="0" err="1"/>
              <a:t>bosbe</a:t>
            </a:r>
            <a:r>
              <a:rPr lang="en-US" sz="4400" dirty="0"/>
              <a:t> </a:t>
            </a:r>
            <a:r>
              <a:rPr lang="en-US" sz="4400" dirty="0" err="1"/>
              <a:t>akhne</a:t>
            </a:r>
            <a:endParaRPr lang="en-US" sz="4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30" name="Google Shape;463;p25"/>
          <p:cNvSpPr txBox="1">
            <a:spLocks noGrp="1"/>
          </p:cNvSpPr>
          <p:nvPr>
            <p:ph type="title"/>
          </p:nvPr>
        </p:nvSpPr>
        <p:spPr>
          <a:xfrm>
            <a:off x="748675" y="34675"/>
            <a:ext cx="7738100" cy="927350"/>
          </a:xfrm>
          <a:prstGeom prst="rect">
            <a:avLst/>
          </a:prstGeom>
        </p:spPr>
        <p:txBody>
          <a:bodyPr spcFirstLastPara="1" wrap="square" lIns="91425" tIns="91425" rIns="91425" bIns="91425" anchor="t" anchorCtr="0">
            <a:noAutofit/>
          </a:bodyPr>
          <a:lstStyle/>
          <a:p>
            <a:pPr lvl="0"/>
            <a:r>
              <a:rPr lang="en-US" dirty="0">
                <a:solidFill>
                  <a:srgbClr val="FFFF00"/>
                </a:solidFill>
                <a:latin typeface="Segoe UI Black" pitchFamily="34" charset="0"/>
                <a:ea typeface="Segoe UI Black" pitchFamily="34" charset="0"/>
              </a:rPr>
              <a:t>Findings </a:t>
            </a:r>
            <a:br>
              <a:rPr lang="en-US" dirty="0">
                <a:solidFill>
                  <a:srgbClr val="FFFF00"/>
                </a:solidFill>
                <a:latin typeface="Segoe UI Black" pitchFamily="34" charset="0"/>
                <a:ea typeface="Segoe UI Black" pitchFamily="34" charset="0"/>
              </a:rPr>
            </a:br>
            <a:r>
              <a:rPr lang="en-US" sz="1600" dirty="0">
                <a:solidFill>
                  <a:schemeClr val="tx2"/>
                </a:solidFill>
                <a:latin typeface="Segoe UI Black" pitchFamily="34" charset="0"/>
                <a:ea typeface="Segoe UI Black" pitchFamily="34" charset="0"/>
              </a:rPr>
              <a:t>Summary of key findings</a:t>
            </a:r>
            <a:endParaRPr sz="1600" dirty="0">
              <a:solidFill>
                <a:schemeClr val="tx2"/>
              </a:solidFill>
              <a:latin typeface="Segoe UI Black" pitchFamily="34" charset="0"/>
              <a:ea typeface="Segoe UI Black" pitchFamily="34" charset="0"/>
            </a:endParaRPr>
          </a:p>
        </p:txBody>
      </p:sp>
      <p:sp>
        <p:nvSpPr>
          <p:cNvPr id="2" name="TextBox 1">
            <a:extLst>
              <a:ext uri="{FF2B5EF4-FFF2-40B4-BE49-F238E27FC236}">
                <a16:creationId xmlns:a16="http://schemas.microsoft.com/office/drawing/2014/main" id="{F15A081C-EEC6-4140-A30F-76B9FE1A1F71}"/>
              </a:ext>
            </a:extLst>
          </p:cNvPr>
          <p:cNvSpPr txBox="1"/>
          <p:nvPr/>
        </p:nvSpPr>
        <p:spPr>
          <a:xfrm>
            <a:off x="921488" y="962025"/>
            <a:ext cx="7473837" cy="3539430"/>
          </a:xfrm>
          <a:prstGeom prst="rect">
            <a:avLst/>
          </a:prstGeom>
          <a:noFill/>
        </p:spPr>
        <p:txBody>
          <a:bodyPr wrap="square" rtlCol="0">
            <a:spAutoFit/>
          </a:bodyPr>
          <a:lstStyle/>
          <a:p>
            <a:pPr marL="342900" indent="-342900">
              <a:buClr>
                <a:srgbClr val="FF0000"/>
              </a:buClr>
              <a:buFont typeface="+mj-lt"/>
              <a:buAutoNum type="arabicParenR"/>
            </a:pPr>
            <a:r>
              <a:rPr lang="en-US" b="1" dirty="0">
                <a:solidFill>
                  <a:srgbClr val="FF0000"/>
                </a:solidFill>
              </a:rPr>
              <a:t>Technical Feasibility:</a:t>
            </a:r>
            <a:endParaRPr lang="en-US" dirty="0">
              <a:solidFill>
                <a:srgbClr val="FF0000"/>
              </a:solidFill>
            </a:endParaRPr>
          </a:p>
          <a:p>
            <a:pPr marL="285750" lvl="1" indent="-285750">
              <a:buClr>
                <a:schemeClr val="tx2"/>
              </a:buClr>
              <a:buFont typeface="Wingdings" panose="05000000000000000000" pitchFamily="2" charset="2"/>
              <a:buChar char="v"/>
            </a:pPr>
            <a:r>
              <a:rPr lang="en-US" dirty="0">
                <a:solidFill>
                  <a:schemeClr val="tx2"/>
                </a:solidFill>
              </a:rPr>
              <a:t>Successful integration of AI into the examination system for secure and reliable camera detection.</a:t>
            </a:r>
          </a:p>
          <a:p>
            <a:pPr marL="285750" lvl="1" indent="-285750">
              <a:buClr>
                <a:schemeClr val="tx2"/>
              </a:buClr>
              <a:buFont typeface="Wingdings" panose="05000000000000000000" pitchFamily="2" charset="2"/>
              <a:buChar char="v"/>
            </a:pPr>
            <a:r>
              <a:rPr lang="en-US" dirty="0">
                <a:solidFill>
                  <a:schemeClr val="tx2"/>
                </a:solidFill>
              </a:rPr>
              <a:t>Implementation of real-time monitoring using optimized machine learning algorithms.</a:t>
            </a:r>
          </a:p>
          <a:p>
            <a:pPr marL="342900" indent="-342900">
              <a:buClr>
                <a:srgbClr val="FF0000"/>
              </a:buClr>
              <a:buFont typeface="+mj-lt"/>
              <a:buAutoNum type="arabicParenR"/>
            </a:pPr>
            <a:r>
              <a:rPr lang="en-US" b="1" dirty="0">
                <a:solidFill>
                  <a:srgbClr val="FF0000"/>
                </a:solidFill>
              </a:rPr>
              <a:t>Security and Privacy:</a:t>
            </a:r>
            <a:endParaRPr lang="en-US" dirty="0">
              <a:solidFill>
                <a:srgbClr val="FF0000"/>
              </a:solidFill>
            </a:endParaRPr>
          </a:p>
          <a:p>
            <a:pPr marL="285750" lvl="1" indent="-285750">
              <a:buClr>
                <a:schemeClr val="tx2"/>
              </a:buClr>
              <a:buFont typeface="Wingdings" panose="05000000000000000000" pitchFamily="2" charset="2"/>
              <a:buChar char="v"/>
            </a:pPr>
            <a:r>
              <a:rPr lang="en-US" dirty="0">
                <a:solidFill>
                  <a:schemeClr val="tx2"/>
                </a:solidFill>
              </a:rPr>
              <a:t>Effective measures in place to prevent cheating and ensure exam integrity.</a:t>
            </a:r>
          </a:p>
          <a:p>
            <a:pPr marL="285750" lvl="1" indent="-285750">
              <a:buClr>
                <a:schemeClr val="tx2"/>
              </a:buClr>
              <a:buFont typeface="Wingdings" panose="05000000000000000000" pitchFamily="2" charset="2"/>
              <a:buChar char="v"/>
            </a:pPr>
            <a:r>
              <a:rPr lang="en-US" dirty="0">
                <a:solidFill>
                  <a:schemeClr val="tx2"/>
                </a:solidFill>
              </a:rPr>
              <a:t>Implementation of robust security protocols, encryption, and authentication for user data protection.</a:t>
            </a:r>
          </a:p>
          <a:p>
            <a:pPr marL="342900" indent="-342900">
              <a:buClr>
                <a:srgbClr val="FF0000"/>
              </a:buClr>
              <a:buFont typeface="+mj-lt"/>
              <a:buAutoNum type="arabicParenR"/>
            </a:pPr>
            <a:r>
              <a:rPr lang="en-US" b="1" dirty="0">
                <a:solidFill>
                  <a:srgbClr val="FF0000"/>
                </a:solidFill>
              </a:rPr>
              <a:t>User Experience:</a:t>
            </a:r>
            <a:endParaRPr lang="en-US" dirty="0">
              <a:solidFill>
                <a:srgbClr val="FF0000"/>
              </a:solidFill>
            </a:endParaRPr>
          </a:p>
          <a:p>
            <a:pPr marL="285750" lvl="1" indent="-285750">
              <a:buClr>
                <a:schemeClr val="tx2"/>
              </a:buClr>
              <a:buFont typeface="Wingdings" panose="05000000000000000000" pitchFamily="2" charset="2"/>
              <a:buChar char="v"/>
            </a:pPr>
            <a:r>
              <a:rPr lang="en-US" dirty="0">
                <a:solidFill>
                  <a:schemeClr val="tx2"/>
                </a:solidFill>
              </a:rPr>
              <a:t>Positive impact on user experience with seamless integration of AI camera detection.</a:t>
            </a:r>
          </a:p>
          <a:p>
            <a:pPr marL="285750" lvl="1" indent="-285750">
              <a:buClr>
                <a:schemeClr val="tx2"/>
              </a:buClr>
              <a:buFont typeface="Wingdings" panose="05000000000000000000" pitchFamily="2" charset="2"/>
              <a:buChar char="v"/>
            </a:pPr>
            <a:r>
              <a:rPr lang="en-US" dirty="0">
                <a:solidFill>
                  <a:schemeClr val="tx2"/>
                </a:solidFill>
              </a:rPr>
              <a:t>Strategies implemented to minimize false positives/negatives, ensuring a smooth experience for legitimate users.</a:t>
            </a:r>
          </a:p>
          <a:p>
            <a:pPr marL="342900" indent="-342900">
              <a:buClr>
                <a:srgbClr val="FF0000"/>
              </a:buClr>
              <a:buFont typeface="+mj-lt"/>
              <a:buAutoNum type="arabicParenR"/>
            </a:pPr>
            <a:r>
              <a:rPr lang="en-US" b="1" dirty="0">
                <a:solidFill>
                  <a:srgbClr val="FF0000"/>
                </a:solidFill>
              </a:rPr>
              <a:t>Adaptability and Scalability:</a:t>
            </a:r>
            <a:endParaRPr lang="en-US" dirty="0">
              <a:solidFill>
                <a:srgbClr val="FF0000"/>
              </a:solidFill>
            </a:endParaRPr>
          </a:p>
          <a:p>
            <a:pPr marL="285750" lvl="1" indent="-285750">
              <a:buClr>
                <a:schemeClr val="tx2"/>
              </a:buClr>
              <a:buFont typeface="Wingdings" panose="05000000000000000000" pitchFamily="2" charset="2"/>
              <a:buChar char="v"/>
            </a:pPr>
            <a:r>
              <a:rPr lang="en-US" dirty="0">
                <a:solidFill>
                  <a:schemeClr val="tx2"/>
                </a:solidFill>
              </a:rPr>
              <a:t>System designed to adapt to various exam types and subjects.</a:t>
            </a:r>
          </a:p>
          <a:p>
            <a:pPr marL="285750" lvl="1" indent="-285750">
              <a:buClr>
                <a:schemeClr val="tx2"/>
              </a:buClr>
              <a:buFont typeface="Wingdings" panose="05000000000000000000" pitchFamily="2" charset="2"/>
              <a:buChar char="v"/>
            </a:pPr>
            <a:r>
              <a:rPr lang="en-US" dirty="0">
                <a:solidFill>
                  <a:schemeClr val="tx2"/>
                </a:solidFill>
              </a:rPr>
              <a:t>Successful scalability for use in large-scale online examinations.</a:t>
            </a:r>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93" name="Google Shape;593;p27"/>
          <p:cNvSpPr/>
          <p:nvPr/>
        </p:nvSpPr>
        <p:spPr>
          <a:xfrm>
            <a:off x="716513" y="3948625"/>
            <a:ext cx="186900" cy="186900"/>
          </a:xfrm>
          <a:prstGeom prst="ellipse">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463;p25"/>
          <p:cNvSpPr txBox="1">
            <a:spLocks/>
          </p:cNvSpPr>
          <p:nvPr/>
        </p:nvSpPr>
        <p:spPr>
          <a:xfrm>
            <a:off x="352425" y="0"/>
            <a:ext cx="8505825" cy="1362075"/>
          </a:xfrm>
          <a:prstGeom prst="rect">
            <a:avLst/>
          </a:prstGeom>
          <a:noFill/>
          <a:ln>
            <a:noFill/>
          </a:ln>
        </p:spPr>
        <p:txBody>
          <a:bodyPr spcFirstLastPara="1" wrap="square" lIns="91425" tIns="91425" rIns="91425" bIns="91425" anchor="t" anchorCtr="0">
            <a:noAutofit/>
          </a:bodyPr>
          <a:lstStyle/>
          <a:p>
            <a:pPr lvl="0" algn="ctr">
              <a:buClr>
                <a:schemeClr val="lt2"/>
              </a:buClr>
              <a:buSzPts val="3000"/>
            </a:pPr>
            <a:r>
              <a:rPr lang="en-US" sz="3000" b="1" dirty="0">
                <a:solidFill>
                  <a:srgbClr val="FFFF00"/>
                </a:solidFill>
                <a:latin typeface="Segoe UI Black" pitchFamily="34" charset="0"/>
                <a:ea typeface="Segoe UI Black" pitchFamily="34" charset="0"/>
                <a:cs typeface="Rajdhani"/>
                <a:sym typeface="Rajdhani"/>
              </a:rPr>
              <a:t>Discussion </a:t>
            </a:r>
          </a:p>
          <a:p>
            <a:pPr lvl="0" algn="ctr">
              <a:buClr>
                <a:schemeClr val="lt2"/>
              </a:buClr>
              <a:buSzPts val="3000"/>
            </a:pPr>
            <a:r>
              <a:rPr lang="en-US" sz="2000" b="1" dirty="0">
                <a:solidFill>
                  <a:schemeClr val="tx2"/>
                </a:solidFill>
                <a:latin typeface="Segoe UI Black" pitchFamily="34" charset="0"/>
                <a:ea typeface="Segoe UI Black" pitchFamily="34" charset="0"/>
                <a:cs typeface="Rajdhani"/>
                <a:sym typeface="Rajdhani"/>
              </a:rPr>
              <a:t> Interpretation of findings </a:t>
            </a:r>
          </a:p>
        </p:txBody>
      </p:sp>
      <p:sp>
        <p:nvSpPr>
          <p:cNvPr id="2" name="TextBox 1">
            <a:extLst>
              <a:ext uri="{FF2B5EF4-FFF2-40B4-BE49-F238E27FC236}">
                <a16:creationId xmlns:a16="http://schemas.microsoft.com/office/drawing/2014/main" id="{620C86CC-5700-4173-A2DC-41897E398CA0}"/>
              </a:ext>
            </a:extLst>
          </p:cNvPr>
          <p:cNvSpPr txBox="1"/>
          <p:nvPr/>
        </p:nvSpPr>
        <p:spPr>
          <a:xfrm>
            <a:off x="1000048" y="1199042"/>
            <a:ext cx="7548529" cy="3539430"/>
          </a:xfrm>
          <a:prstGeom prst="rect">
            <a:avLst/>
          </a:prstGeom>
          <a:noFill/>
        </p:spPr>
        <p:txBody>
          <a:bodyPr wrap="square" rtlCol="0">
            <a:spAutoFit/>
          </a:bodyPr>
          <a:lstStyle/>
          <a:p>
            <a:pPr marL="342900" indent="-342900">
              <a:buClr>
                <a:srgbClr val="FF0000"/>
              </a:buClr>
              <a:buFont typeface="+mj-lt"/>
              <a:buAutoNum type="arabicPeriod"/>
            </a:pPr>
            <a:r>
              <a:rPr lang="en-US" b="1" dirty="0">
                <a:solidFill>
                  <a:srgbClr val="FF0000"/>
                </a:solidFill>
              </a:rPr>
              <a:t>Ethical Considerations and Bias Mitigation:</a:t>
            </a:r>
            <a:endParaRPr lang="en-US" dirty="0">
              <a:solidFill>
                <a:srgbClr val="FF0000"/>
              </a:solidFill>
            </a:endParaRPr>
          </a:p>
          <a:p>
            <a:pPr marL="285750" lvl="1" indent="-285750">
              <a:buClr>
                <a:schemeClr val="tx2"/>
              </a:buClr>
              <a:buFont typeface="Wingdings" panose="05000000000000000000" pitchFamily="2" charset="2"/>
              <a:buChar char="q"/>
            </a:pPr>
            <a:r>
              <a:rPr lang="en-US" dirty="0">
                <a:solidFill>
                  <a:schemeClr val="tx2"/>
                </a:solidFill>
              </a:rPr>
              <a:t>Compliance with ethical guidelines and regulations underscores a commitment to responsible AI use. The mitigation of biases in AI models reflects a dedication to fairness, addressing potential concerns related to unequal treatment of student groups.</a:t>
            </a:r>
          </a:p>
          <a:p>
            <a:pPr marL="342900" indent="-342900">
              <a:buClr>
                <a:srgbClr val="FF0000"/>
              </a:buClr>
              <a:buFont typeface="+mj-lt"/>
              <a:buAutoNum type="arabicPeriod"/>
            </a:pPr>
            <a:r>
              <a:rPr lang="en-US" b="1" dirty="0">
                <a:solidFill>
                  <a:srgbClr val="FF0000"/>
                </a:solidFill>
              </a:rPr>
              <a:t>System Reliability and Robustness:</a:t>
            </a:r>
            <a:endParaRPr lang="en-US" dirty="0">
              <a:solidFill>
                <a:srgbClr val="FF0000"/>
              </a:solidFill>
            </a:endParaRPr>
          </a:p>
          <a:p>
            <a:pPr marL="285750" lvl="1" indent="-285750">
              <a:buClr>
                <a:schemeClr val="tx2"/>
              </a:buClr>
              <a:buFont typeface="Wingdings" panose="05000000000000000000" pitchFamily="2" charset="2"/>
              <a:buChar char="q"/>
            </a:pPr>
            <a:r>
              <a:rPr lang="en-US" dirty="0">
                <a:solidFill>
                  <a:schemeClr val="tx2"/>
                </a:solidFill>
              </a:rPr>
              <a:t>Measures to ensure system reliability, especially in the face of technical failures and potential adversarial attacks, demonstrate a focus on robustness. This reliability is vital for maintaining the trust and confidence of both administrators and test-takers.</a:t>
            </a:r>
          </a:p>
          <a:p>
            <a:pPr marL="342900" indent="-342900">
              <a:buClr>
                <a:srgbClr val="FF0000"/>
              </a:buClr>
              <a:buFont typeface="+mj-lt"/>
              <a:buAutoNum type="arabicPeriod"/>
            </a:pPr>
            <a:r>
              <a:rPr lang="en-US" b="1" dirty="0">
                <a:solidFill>
                  <a:srgbClr val="FF0000"/>
                </a:solidFill>
              </a:rPr>
              <a:t>Cost-Benefit Analysis:</a:t>
            </a:r>
            <a:endParaRPr lang="en-US" dirty="0">
              <a:solidFill>
                <a:srgbClr val="FF0000"/>
              </a:solidFill>
            </a:endParaRPr>
          </a:p>
          <a:p>
            <a:pPr marL="285750" lvl="1" indent="-285750">
              <a:buClr>
                <a:schemeClr val="tx2"/>
              </a:buClr>
              <a:buFont typeface="Wingdings" panose="05000000000000000000" pitchFamily="2" charset="2"/>
              <a:buChar char="q"/>
            </a:pPr>
            <a:r>
              <a:rPr lang="en-US" dirty="0">
                <a:solidFill>
                  <a:schemeClr val="tx2"/>
                </a:solidFill>
              </a:rPr>
              <a:t>The consideration of economic factors in implementing AI-based camera detection suggests a pragmatic approach to resource allocation. The positive comparison between costs and benefits indicates a sound investment in technology to enhance exam security.</a:t>
            </a:r>
          </a:p>
          <a:p>
            <a:pPr marL="342900" indent="-342900">
              <a:buClr>
                <a:srgbClr val="FF0000"/>
              </a:buClr>
              <a:buFont typeface="+mj-lt"/>
              <a:buAutoNum type="arabicPeriod"/>
            </a:pPr>
            <a:r>
              <a:rPr lang="en-US" b="1" dirty="0">
                <a:solidFill>
                  <a:srgbClr val="FF0000"/>
                </a:solidFill>
              </a:rPr>
              <a:t>Legal Compliance and Privacy Policies:</a:t>
            </a:r>
            <a:endParaRPr lang="en-US" dirty="0">
              <a:solidFill>
                <a:srgbClr val="FF0000"/>
              </a:solidFill>
            </a:endParaRPr>
          </a:p>
          <a:p>
            <a:pPr marL="285750" lvl="1" indent="-285750">
              <a:buClr>
                <a:schemeClr val="tx2"/>
              </a:buClr>
              <a:buFont typeface="Wingdings" panose="05000000000000000000" pitchFamily="2" charset="2"/>
              <a:buChar char="q"/>
            </a:pPr>
            <a:r>
              <a:rPr lang="en-US" dirty="0">
                <a:solidFill>
                  <a:schemeClr val="tx2"/>
                </a:solidFill>
              </a:rPr>
              <a:t>Adherence to legal requirements, including data protection laws, ensures that the system operates within the boundaries of the law. The development of privacy policies and terms of service adds transparency and accountability, </a:t>
            </a:r>
            <a:r>
              <a:rPr lang="en-US" dirty="0" err="1">
                <a:solidFill>
                  <a:schemeClr val="tx2"/>
                </a:solidFill>
              </a:rPr>
              <a:t>alig</a:t>
            </a:r>
            <a:endParaRPr lang="en-US" dirty="0">
              <a:solidFill>
                <a:schemeClr val="tx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E2AA1-44DB-4A7A-B247-F366EE35134D}"/>
              </a:ext>
            </a:extLst>
          </p:cNvPr>
          <p:cNvSpPr>
            <a:spLocks noGrp="1"/>
          </p:cNvSpPr>
          <p:nvPr>
            <p:ph type="title"/>
          </p:nvPr>
        </p:nvSpPr>
        <p:spPr/>
        <p:txBody>
          <a:bodyPr/>
          <a:lstStyle/>
          <a:p>
            <a:r>
              <a:rPr lang="en-US" sz="2000" dirty="0">
                <a:solidFill>
                  <a:schemeClr val="tx2"/>
                </a:solidFill>
                <a:latin typeface="Segoe UI Black" pitchFamily="34" charset="0"/>
                <a:ea typeface="Segoe UI Black" pitchFamily="34" charset="0"/>
              </a:rPr>
              <a:t>Link to the research questions/hypothesis</a:t>
            </a:r>
            <a:endParaRPr lang="en-IN" sz="2000" dirty="0"/>
          </a:p>
        </p:txBody>
      </p:sp>
    </p:spTree>
    <p:extLst>
      <p:ext uri="{BB962C8B-B14F-4D97-AF65-F5344CB8AC3E}">
        <p14:creationId xmlns:p14="http://schemas.microsoft.com/office/powerpoint/2010/main" val="3415331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42" name="Google Shape;463;p25"/>
          <p:cNvSpPr txBox="1">
            <a:spLocks/>
          </p:cNvSpPr>
          <p:nvPr/>
        </p:nvSpPr>
        <p:spPr>
          <a:xfrm>
            <a:off x="352425" y="1"/>
            <a:ext cx="8505825" cy="971550"/>
          </a:xfrm>
          <a:prstGeom prst="rect">
            <a:avLst/>
          </a:prstGeom>
          <a:noFill/>
          <a:ln>
            <a:noFill/>
          </a:ln>
        </p:spPr>
        <p:txBody>
          <a:bodyPr spcFirstLastPara="1" wrap="square" lIns="91425" tIns="91425" rIns="91425" bIns="91425" anchor="t" anchorCtr="0">
            <a:noAutofit/>
          </a:bodyPr>
          <a:lstStyle/>
          <a:p>
            <a:pPr lvl="0" algn="ctr">
              <a:buClr>
                <a:schemeClr val="lt2"/>
              </a:buClr>
              <a:buSzPts val="3000"/>
            </a:pPr>
            <a:r>
              <a:rPr lang="en-US" sz="3000" b="1" dirty="0">
                <a:solidFill>
                  <a:srgbClr val="FFFF00"/>
                </a:solidFill>
                <a:latin typeface="Segoe UI Black" pitchFamily="34" charset="0"/>
                <a:ea typeface="Segoe UI Black" pitchFamily="34" charset="0"/>
                <a:cs typeface="Rajdhani"/>
                <a:sym typeface="Rajdhani"/>
              </a:rPr>
              <a:t>Innovations or Unique Aspects </a:t>
            </a:r>
          </a:p>
          <a:p>
            <a:pPr lvl="0" algn="ctr">
              <a:buClr>
                <a:schemeClr val="lt2"/>
              </a:buClr>
              <a:buSzPts val="3000"/>
            </a:pPr>
            <a:r>
              <a:rPr lang="en-US" sz="2000" b="1" dirty="0">
                <a:solidFill>
                  <a:schemeClr val="tx2"/>
                </a:solidFill>
                <a:latin typeface="Segoe UI Black" pitchFamily="34" charset="0"/>
                <a:ea typeface="Segoe UI Black" pitchFamily="34" charset="0"/>
                <a:cs typeface="Rajdhani"/>
                <a:sym typeface="Rajdhani"/>
              </a:rPr>
              <a:t>o Any innovative approach or unique aspect of your project </a:t>
            </a:r>
            <a:endParaRPr kumimoji="0" lang="en-US" sz="2000" b="1" i="0" u="none" strike="noStrike" kern="0" cap="none" spc="0" normalizeH="0" baseline="0" noProof="0" dirty="0">
              <a:ln>
                <a:noFill/>
              </a:ln>
              <a:solidFill>
                <a:schemeClr val="tx2"/>
              </a:solidFill>
              <a:effectLst/>
              <a:uLnTx/>
              <a:uFillTx/>
              <a:latin typeface="Segoe UI Black" pitchFamily="34" charset="0"/>
              <a:ea typeface="Segoe UI Black" pitchFamily="34" charset="0"/>
              <a:cs typeface="Rajdhani"/>
              <a:sym typeface="Rajdhani"/>
            </a:endParaRPr>
          </a:p>
        </p:txBody>
      </p:sp>
      <p:sp>
        <p:nvSpPr>
          <p:cNvPr id="43" name="Rectangle 42"/>
          <p:cNvSpPr/>
          <p:nvPr/>
        </p:nvSpPr>
        <p:spPr>
          <a:xfrm>
            <a:off x="371475" y="895023"/>
            <a:ext cx="8343900" cy="3754874"/>
          </a:xfrm>
          <a:prstGeom prst="rect">
            <a:avLst/>
          </a:prstGeom>
        </p:spPr>
        <p:txBody>
          <a:bodyPr wrap="square">
            <a:spAutoFit/>
          </a:bodyPr>
          <a:lstStyle/>
          <a:p>
            <a:r>
              <a:rPr lang="en-US" b="1" dirty="0">
                <a:solidFill>
                  <a:schemeClr val="tx2"/>
                </a:solidFill>
              </a:rPr>
              <a:t>Dynamic Attendance Marking:</a:t>
            </a:r>
            <a:endParaRPr lang="en-US" dirty="0">
              <a:solidFill>
                <a:schemeClr val="tx2"/>
              </a:solidFill>
            </a:endParaRPr>
          </a:p>
          <a:p>
            <a:pPr lvl="1"/>
            <a:r>
              <a:rPr lang="en-US" dirty="0">
                <a:solidFill>
                  <a:schemeClr val="tx2"/>
                </a:solidFill>
              </a:rPr>
              <a:t>The system dynamically marks attendance based on real-time analysis of facial features. Instead of relying solely on static images, it continuously processes video frames to update attendance records dynamically.</a:t>
            </a:r>
          </a:p>
          <a:p>
            <a:pPr lvl="1"/>
            <a:endParaRPr lang="en-US" dirty="0">
              <a:solidFill>
                <a:schemeClr val="tx2"/>
              </a:solidFill>
            </a:endParaRPr>
          </a:p>
          <a:p>
            <a:r>
              <a:rPr lang="en-US" b="1" dirty="0">
                <a:solidFill>
                  <a:schemeClr val="tx2"/>
                </a:solidFill>
              </a:rPr>
              <a:t>Head Movement Angle Calculation:</a:t>
            </a:r>
            <a:endParaRPr lang="en-US" dirty="0">
              <a:solidFill>
                <a:schemeClr val="tx2"/>
              </a:solidFill>
            </a:endParaRPr>
          </a:p>
          <a:p>
            <a:pPr lvl="1"/>
            <a:r>
              <a:rPr lang="en-US" dirty="0">
                <a:solidFill>
                  <a:schemeClr val="tx2"/>
                </a:solidFill>
              </a:rPr>
              <a:t>Calculating the angle between key points of the face for head movement analysis adds a behavioral dimension to attendance tracking. This could be particularly useful in assessing attentiveness during sessions.</a:t>
            </a:r>
          </a:p>
          <a:p>
            <a:pPr lvl="1"/>
            <a:endParaRPr lang="en-US" dirty="0">
              <a:solidFill>
                <a:schemeClr val="tx2"/>
              </a:solidFill>
            </a:endParaRPr>
          </a:p>
          <a:p>
            <a:r>
              <a:rPr lang="en-US" b="1" dirty="0">
                <a:solidFill>
                  <a:schemeClr val="tx2"/>
                </a:solidFill>
              </a:rPr>
              <a:t>Eye Aspect Ratio (EAR) for Eye State Detection:</a:t>
            </a:r>
            <a:endParaRPr lang="en-US" dirty="0">
              <a:solidFill>
                <a:schemeClr val="tx2"/>
              </a:solidFill>
            </a:endParaRPr>
          </a:p>
          <a:p>
            <a:pPr lvl="1"/>
            <a:r>
              <a:rPr lang="en-US" dirty="0">
                <a:solidFill>
                  <a:schemeClr val="tx2"/>
                </a:solidFill>
              </a:rPr>
              <a:t>The use of the eye aspect ratio (EAR) to determine whether eyes are open or closed provides insights into the attendee's focus and level of alertness.</a:t>
            </a:r>
          </a:p>
          <a:p>
            <a:pPr lvl="1"/>
            <a:endParaRPr lang="en-US" dirty="0">
              <a:solidFill>
                <a:schemeClr val="tx2"/>
              </a:solidFill>
            </a:endParaRPr>
          </a:p>
          <a:p>
            <a:r>
              <a:rPr lang="en-US" b="1" dirty="0">
                <a:solidFill>
                  <a:schemeClr val="tx2"/>
                </a:solidFill>
              </a:rPr>
              <a:t>Mouth Aspect Ratio (MAR) for Mouth State Analysis:</a:t>
            </a:r>
            <a:endParaRPr lang="en-US" dirty="0">
              <a:solidFill>
                <a:schemeClr val="tx2"/>
              </a:solidFill>
            </a:endParaRPr>
          </a:p>
          <a:p>
            <a:pPr lvl="1"/>
            <a:r>
              <a:rPr lang="en-US" dirty="0">
                <a:solidFill>
                  <a:schemeClr val="tx2"/>
                </a:solidFill>
              </a:rPr>
              <a:t>The calculation of the mouth aspect ratio (MAR) contributes to understanding facial expressions and potentially detecting talking or other mouth-related activities.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49" name="Google Shape;463;p25"/>
          <p:cNvSpPr txBox="1">
            <a:spLocks/>
          </p:cNvSpPr>
          <p:nvPr/>
        </p:nvSpPr>
        <p:spPr>
          <a:xfrm>
            <a:off x="352425" y="1"/>
            <a:ext cx="8505825" cy="971550"/>
          </a:xfrm>
          <a:prstGeom prst="rect">
            <a:avLst/>
          </a:prstGeom>
          <a:noFill/>
          <a:ln>
            <a:noFill/>
          </a:ln>
        </p:spPr>
        <p:txBody>
          <a:bodyPr spcFirstLastPara="1" wrap="square" lIns="91425" tIns="91425" rIns="91425" bIns="91425" anchor="t" anchorCtr="0">
            <a:noAutofit/>
          </a:bodyPr>
          <a:lstStyle/>
          <a:p>
            <a:pPr lvl="0" algn="ctr">
              <a:buClr>
                <a:schemeClr val="lt2"/>
              </a:buClr>
              <a:buSzPts val="3000"/>
            </a:pPr>
            <a:r>
              <a:rPr lang="en-US" sz="3000" b="1" dirty="0">
                <a:solidFill>
                  <a:srgbClr val="FFFF00"/>
                </a:solidFill>
                <a:latin typeface="Segoe UI Black" pitchFamily="34" charset="0"/>
                <a:ea typeface="Segoe UI Black" pitchFamily="34" charset="0"/>
                <a:cs typeface="Rajdhani"/>
                <a:sym typeface="Rajdhani"/>
              </a:rPr>
              <a:t>Practical Applications </a:t>
            </a:r>
          </a:p>
          <a:p>
            <a:pPr lvl="0" algn="ctr">
              <a:buClr>
                <a:schemeClr val="lt2"/>
              </a:buClr>
              <a:buSzPts val="3000"/>
            </a:pPr>
            <a:r>
              <a:rPr lang="en-US" sz="2000" b="1" dirty="0">
                <a:solidFill>
                  <a:schemeClr val="tx2"/>
                </a:solidFill>
                <a:latin typeface="Segoe UI Black" pitchFamily="34" charset="0"/>
                <a:ea typeface="Segoe UI Black" pitchFamily="34" charset="0"/>
                <a:cs typeface="Rajdhani"/>
                <a:sym typeface="Rajdhani"/>
              </a:rPr>
              <a:t>o How your findings can be applied in real-world scenarios</a:t>
            </a:r>
            <a:endParaRPr kumimoji="0" lang="en-US" sz="2000" b="1" i="0" u="none" strike="noStrike" kern="0" cap="none" spc="0" normalizeH="0" baseline="0" noProof="0" dirty="0">
              <a:ln>
                <a:noFill/>
              </a:ln>
              <a:solidFill>
                <a:schemeClr val="tx2"/>
              </a:solidFill>
              <a:effectLst/>
              <a:uLnTx/>
              <a:uFillTx/>
              <a:latin typeface="Segoe UI Black" pitchFamily="34" charset="0"/>
              <a:ea typeface="Segoe UI Black" pitchFamily="34" charset="0"/>
              <a:cs typeface="Rajdhani"/>
              <a:sym typeface="Rajdhani"/>
            </a:endParaRPr>
          </a:p>
        </p:txBody>
      </p:sp>
      <p:sp>
        <p:nvSpPr>
          <p:cNvPr id="50" name="Rectangle 49"/>
          <p:cNvSpPr/>
          <p:nvPr/>
        </p:nvSpPr>
        <p:spPr>
          <a:xfrm>
            <a:off x="380999" y="911811"/>
            <a:ext cx="8505825" cy="3970318"/>
          </a:xfrm>
          <a:prstGeom prst="rect">
            <a:avLst/>
          </a:prstGeom>
        </p:spPr>
        <p:txBody>
          <a:bodyPr wrap="square">
            <a:spAutoFit/>
          </a:bodyPr>
          <a:lstStyle/>
          <a:p>
            <a:r>
              <a:rPr lang="en-US" b="1" dirty="0">
                <a:solidFill>
                  <a:schemeClr val="tx2"/>
                </a:solidFill>
              </a:rPr>
              <a:t>Educational Institutions:</a:t>
            </a:r>
          </a:p>
          <a:p>
            <a:endParaRPr lang="en-US" dirty="0">
              <a:solidFill>
                <a:schemeClr val="tx2"/>
              </a:solidFill>
            </a:endParaRPr>
          </a:p>
          <a:p>
            <a:pPr lvl="1"/>
            <a:r>
              <a:rPr lang="en-US" b="1" dirty="0">
                <a:solidFill>
                  <a:schemeClr val="tx2"/>
                </a:solidFill>
              </a:rPr>
              <a:t>Classroom Attendance Management:</a:t>
            </a:r>
            <a:r>
              <a:rPr lang="en-US" dirty="0">
                <a:solidFill>
                  <a:schemeClr val="tx2"/>
                </a:solidFill>
              </a:rPr>
              <a:t> The system can streamline attendance tracking in educational institutions, reducing the administrative burden on teachers and staff.</a:t>
            </a:r>
          </a:p>
          <a:p>
            <a:pPr lvl="1"/>
            <a:r>
              <a:rPr lang="en-US" b="1" dirty="0">
                <a:solidFill>
                  <a:schemeClr val="tx2"/>
                </a:solidFill>
              </a:rPr>
              <a:t>Engagement Monitoring:</a:t>
            </a:r>
            <a:r>
              <a:rPr lang="en-US" dirty="0">
                <a:solidFill>
                  <a:schemeClr val="tx2"/>
                </a:solidFill>
              </a:rPr>
              <a:t> Analysis of facial features provides insights into student engagement levels, helping educators tailor their teaching methods.</a:t>
            </a:r>
          </a:p>
          <a:p>
            <a:pPr lvl="1"/>
            <a:endParaRPr lang="en-US" dirty="0">
              <a:solidFill>
                <a:schemeClr val="tx2"/>
              </a:solidFill>
            </a:endParaRPr>
          </a:p>
          <a:p>
            <a:r>
              <a:rPr lang="en-US" b="1" dirty="0">
                <a:solidFill>
                  <a:schemeClr val="tx2"/>
                </a:solidFill>
              </a:rPr>
              <a:t>Corporate Settings:</a:t>
            </a:r>
            <a:endParaRPr lang="en-US" dirty="0">
              <a:solidFill>
                <a:schemeClr val="tx2"/>
              </a:solidFill>
            </a:endParaRPr>
          </a:p>
          <a:p>
            <a:pPr lvl="1"/>
            <a:r>
              <a:rPr lang="en-US" b="1" dirty="0">
                <a:solidFill>
                  <a:schemeClr val="tx2"/>
                </a:solidFill>
              </a:rPr>
              <a:t>Employee Attendance Tracking:</a:t>
            </a:r>
            <a:r>
              <a:rPr lang="en-US" dirty="0">
                <a:solidFill>
                  <a:schemeClr val="tx2"/>
                </a:solidFill>
              </a:rPr>
              <a:t> The system can be used for automating employee attendance in office settings, enhancing efficiency and reducing manual record-keeping.</a:t>
            </a:r>
          </a:p>
          <a:p>
            <a:pPr lvl="1"/>
            <a:r>
              <a:rPr lang="en-US" b="1" dirty="0">
                <a:solidFill>
                  <a:schemeClr val="tx2"/>
                </a:solidFill>
              </a:rPr>
              <a:t>Meeting Participation Analysis:</a:t>
            </a:r>
            <a:r>
              <a:rPr lang="en-US" dirty="0">
                <a:solidFill>
                  <a:schemeClr val="tx2"/>
                </a:solidFill>
              </a:rPr>
              <a:t> Head movement and eye state analysis can offer insights into meeting participants' attentiveness and engagement.</a:t>
            </a:r>
          </a:p>
          <a:p>
            <a:pPr lvl="1"/>
            <a:endParaRPr lang="en-US" dirty="0">
              <a:solidFill>
                <a:schemeClr val="tx2"/>
              </a:solidFill>
            </a:endParaRPr>
          </a:p>
          <a:p>
            <a:r>
              <a:rPr lang="en-US" b="1" dirty="0">
                <a:solidFill>
                  <a:schemeClr val="tx2"/>
                </a:solidFill>
              </a:rPr>
              <a:t>Conference and Event Management:</a:t>
            </a:r>
            <a:endParaRPr lang="en-US" dirty="0">
              <a:solidFill>
                <a:schemeClr val="tx2"/>
              </a:solidFill>
            </a:endParaRPr>
          </a:p>
          <a:p>
            <a:pPr lvl="1"/>
            <a:r>
              <a:rPr lang="en-US" b="1" dirty="0">
                <a:solidFill>
                  <a:schemeClr val="tx2"/>
                </a:solidFill>
              </a:rPr>
              <a:t>Automated Event Attendance:</a:t>
            </a:r>
            <a:r>
              <a:rPr lang="en-US" dirty="0">
                <a:solidFill>
                  <a:schemeClr val="tx2"/>
                </a:solidFill>
              </a:rPr>
              <a:t> The system can be deployed at conferences and events for automated attendance tracking, providing organizers with real-time insights.</a:t>
            </a:r>
          </a:p>
          <a:p>
            <a:pPr lvl="1"/>
            <a:r>
              <a:rPr lang="en-US" b="1" dirty="0">
                <a:solidFill>
                  <a:schemeClr val="tx2"/>
                </a:solidFill>
              </a:rPr>
              <a:t>Participant Engagement Metrics:</a:t>
            </a:r>
            <a:r>
              <a:rPr lang="en-US" dirty="0">
                <a:solidFill>
                  <a:schemeClr val="tx2"/>
                </a:solidFill>
              </a:rPr>
              <a:t> Facial feature analysis offers a unique metric for assessing participant engagement during various sessions.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49" name="Google Shape;463;p25"/>
          <p:cNvSpPr txBox="1">
            <a:spLocks/>
          </p:cNvSpPr>
          <p:nvPr/>
        </p:nvSpPr>
        <p:spPr>
          <a:xfrm>
            <a:off x="361950" y="0"/>
            <a:ext cx="8486775" cy="1000125"/>
          </a:xfrm>
          <a:prstGeom prst="rect">
            <a:avLst/>
          </a:prstGeom>
          <a:noFill/>
          <a:ln>
            <a:noFill/>
          </a:ln>
        </p:spPr>
        <p:txBody>
          <a:bodyPr spcFirstLastPara="1" wrap="square" lIns="91425" tIns="91425" rIns="91425" bIns="91425" anchor="t" anchorCtr="0">
            <a:noAutofit/>
          </a:bodyPr>
          <a:lstStyle/>
          <a:p>
            <a:pPr lvl="0" algn="ctr">
              <a:buClr>
                <a:schemeClr val="lt2"/>
              </a:buClr>
              <a:buSzPts val="3000"/>
            </a:pPr>
            <a:r>
              <a:rPr lang="en-US" sz="3000" b="1" dirty="0">
                <a:solidFill>
                  <a:srgbClr val="FFFF00"/>
                </a:solidFill>
                <a:latin typeface="Segoe UI Black" pitchFamily="34" charset="0"/>
                <a:ea typeface="Segoe UI Black" pitchFamily="34" charset="0"/>
                <a:cs typeface="Rajdhani"/>
                <a:sym typeface="Rajdhani"/>
              </a:rPr>
              <a:t>Future Work </a:t>
            </a:r>
          </a:p>
          <a:p>
            <a:pPr lvl="0" algn="ctr">
              <a:buClr>
                <a:schemeClr val="lt2"/>
              </a:buClr>
              <a:buSzPts val="3000"/>
            </a:pPr>
            <a:r>
              <a:rPr lang="en-US" sz="1800" b="1" dirty="0">
                <a:solidFill>
                  <a:schemeClr val="tx2"/>
                </a:solidFill>
                <a:latin typeface="Segoe UI Black" pitchFamily="34" charset="0"/>
                <a:ea typeface="Segoe UI Black" pitchFamily="34" charset="0"/>
                <a:cs typeface="Rajdhani"/>
                <a:sym typeface="Rajdhani"/>
              </a:rPr>
              <a:t>o Suggestions for future research o Unexplored areas in your study </a:t>
            </a:r>
          </a:p>
        </p:txBody>
      </p:sp>
      <p:sp>
        <p:nvSpPr>
          <p:cNvPr id="50" name="Rectangle 49"/>
          <p:cNvSpPr/>
          <p:nvPr/>
        </p:nvSpPr>
        <p:spPr>
          <a:xfrm>
            <a:off x="0" y="887432"/>
            <a:ext cx="9144000" cy="3754874"/>
          </a:xfrm>
          <a:prstGeom prst="rect">
            <a:avLst/>
          </a:prstGeom>
        </p:spPr>
        <p:txBody>
          <a:bodyPr wrap="square">
            <a:spAutoFit/>
          </a:bodyPr>
          <a:lstStyle/>
          <a:p>
            <a:r>
              <a:rPr lang="en-US" b="1" dirty="0">
                <a:solidFill>
                  <a:schemeClr val="tx2"/>
                </a:solidFill>
              </a:rPr>
              <a:t>Behavioral Analysis:</a:t>
            </a:r>
            <a:endParaRPr lang="en-US" dirty="0">
              <a:solidFill>
                <a:schemeClr val="tx2"/>
              </a:solidFill>
            </a:endParaRPr>
          </a:p>
          <a:p>
            <a:pPr lvl="1"/>
            <a:r>
              <a:rPr lang="en-US" b="1" dirty="0">
                <a:solidFill>
                  <a:schemeClr val="tx2"/>
                </a:solidFill>
              </a:rPr>
              <a:t>Emotion Recognition:</a:t>
            </a:r>
            <a:r>
              <a:rPr lang="en-US" dirty="0">
                <a:solidFill>
                  <a:schemeClr val="tx2"/>
                </a:solidFill>
              </a:rPr>
              <a:t> Extend the system to include emotion recognition to gauge the emotional state of attendees during various activities.</a:t>
            </a:r>
          </a:p>
          <a:p>
            <a:pPr lvl="1"/>
            <a:r>
              <a:rPr lang="en-US" b="1" dirty="0">
                <a:solidFill>
                  <a:schemeClr val="tx2"/>
                </a:solidFill>
              </a:rPr>
              <a:t>Posture Analysis:</a:t>
            </a:r>
            <a:r>
              <a:rPr lang="en-US" dirty="0">
                <a:solidFill>
                  <a:schemeClr val="tx2"/>
                </a:solidFill>
              </a:rPr>
              <a:t> Explore the integration of posture analysis to assess body language and engagement.</a:t>
            </a:r>
          </a:p>
          <a:p>
            <a:pPr lvl="1"/>
            <a:endParaRPr lang="en-US" dirty="0">
              <a:solidFill>
                <a:schemeClr val="tx2"/>
              </a:solidFill>
            </a:endParaRPr>
          </a:p>
          <a:p>
            <a:pPr lvl="1"/>
            <a:endParaRPr lang="en-US" dirty="0">
              <a:solidFill>
                <a:schemeClr val="tx2"/>
              </a:solidFill>
            </a:endParaRPr>
          </a:p>
          <a:p>
            <a:pPr lvl="1"/>
            <a:endParaRPr lang="en-US" dirty="0">
              <a:solidFill>
                <a:schemeClr val="tx2"/>
              </a:solidFill>
            </a:endParaRPr>
          </a:p>
          <a:p>
            <a:r>
              <a:rPr lang="en-US" b="1" dirty="0">
                <a:solidFill>
                  <a:schemeClr val="tx2"/>
                </a:solidFill>
              </a:rPr>
              <a:t>Enhanced Security Measures:</a:t>
            </a:r>
            <a:endParaRPr lang="en-US" dirty="0">
              <a:solidFill>
                <a:schemeClr val="tx2"/>
              </a:solidFill>
            </a:endParaRPr>
          </a:p>
          <a:p>
            <a:pPr lvl="1"/>
            <a:r>
              <a:rPr lang="en-US" b="1" dirty="0">
                <a:solidFill>
                  <a:schemeClr val="tx2"/>
                </a:solidFill>
              </a:rPr>
              <a:t>Biometric Security Integration:</a:t>
            </a:r>
            <a:r>
              <a:rPr lang="en-US" dirty="0">
                <a:solidFill>
                  <a:schemeClr val="tx2"/>
                </a:solidFill>
              </a:rPr>
              <a:t> Investigate the integration of additional biometric factors for enhanced security, such as fingerprint recognition or iris scanning.</a:t>
            </a:r>
          </a:p>
          <a:p>
            <a:pPr lvl="1"/>
            <a:r>
              <a:rPr lang="en-US" b="1" dirty="0">
                <a:solidFill>
                  <a:schemeClr val="tx2"/>
                </a:solidFill>
              </a:rPr>
              <a:t>Anti-Spoofing Techniques:</a:t>
            </a:r>
            <a:r>
              <a:rPr lang="en-US" dirty="0">
                <a:solidFill>
                  <a:schemeClr val="tx2"/>
                </a:solidFill>
              </a:rPr>
              <a:t> Implement anti-spoofing measures to prevent facial recognition spoofing attempts.</a:t>
            </a:r>
          </a:p>
          <a:p>
            <a:pPr lvl="1"/>
            <a:endParaRPr lang="en-US" dirty="0">
              <a:solidFill>
                <a:schemeClr val="tx2"/>
              </a:solidFill>
            </a:endParaRPr>
          </a:p>
          <a:p>
            <a:pPr lvl="1"/>
            <a:endParaRPr lang="en-US" dirty="0">
              <a:solidFill>
                <a:schemeClr val="tx2"/>
              </a:solidFill>
            </a:endParaRPr>
          </a:p>
          <a:p>
            <a:pPr lvl="1"/>
            <a:endParaRPr lang="en-US" dirty="0">
              <a:solidFill>
                <a:schemeClr val="tx2"/>
              </a:solidFill>
            </a:endParaRPr>
          </a:p>
          <a:p>
            <a:r>
              <a:rPr lang="en-US" b="1" dirty="0">
                <a:solidFill>
                  <a:schemeClr val="tx2"/>
                </a:solidFill>
              </a:rPr>
              <a:t>Machine Learning Integration:</a:t>
            </a:r>
            <a:endParaRPr lang="en-US" dirty="0">
              <a:solidFill>
                <a:schemeClr val="tx2"/>
              </a:solidFill>
            </a:endParaRPr>
          </a:p>
          <a:p>
            <a:pPr lvl="1"/>
            <a:r>
              <a:rPr lang="en-US" b="1" dirty="0">
                <a:solidFill>
                  <a:schemeClr val="tx2"/>
                </a:solidFill>
              </a:rPr>
              <a:t>Dynamic Attendance Prediction:</a:t>
            </a:r>
            <a:r>
              <a:rPr lang="en-US" dirty="0">
                <a:solidFill>
                  <a:schemeClr val="tx2"/>
                </a:solidFill>
              </a:rPr>
              <a:t> Explore the integration of machine learning algorithms to predict attendance patterns based on historical data and contextual factors.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49" name="Google Shape;463;p25"/>
          <p:cNvSpPr txBox="1">
            <a:spLocks/>
          </p:cNvSpPr>
          <p:nvPr/>
        </p:nvSpPr>
        <p:spPr>
          <a:xfrm>
            <a:off x="361950" y="0"/>
            <a:ext cx="8486775" cy="1000125"/>
          </a:xfrm>
          <a:prstGeom prst="rect">
            <a:avLst/>
          </a:prstGeom>
          <a:noFill/>
          <a:ln>
            <a:noFill/>
          </a:ln>
        </p:spPr>
        <p:txBody>
          <a:bodyPr spcFirstLastPara="1" wrap="square" lIns="91425" tIns="91425" rIns="91425" bIns="91425" anchor="t" anchorCtr="0">
            <a:noAutofit/>
          </a:bodyPr>
          <a:lstStyle/>
          <a:p>
            <a:pPr lvl="0" algn="ctr">
              <a:buClr>
                <a:schemeClr val="lt2"/>
              </a:buClr>
              <a:buSzPts val="3000"/>
            </a:pPr>
            <a:r>
              <a:rPr lang="en-US" sz="3000" b="1" dirty="0">
                <a:solidFill>
                  <a:srgbClr val="FFFF00"/>
                </a:solidFill>
                <a:latin typeface="Segoe UI Black" pitchFamily="34" charset="0"/>
                <a:ea typeface="Segoe UI Black" pitchFamily="34" charset="0"/>
                <a:cs typeface="Rajdhani"/>
                <a:sym typeface="Rajdhani"/>
              </a:rPr>
              <a:t>Challenges and Learning's </a:t>
            </a:r>
          </a:p>
          <a:p>
            <a:pPr lvl="0" algn="ctr">
              <a:buClr>
                <a:schemeClr val="lt2"/>
              </a:buClr>
              <a:buSzPts val="3000"/>
            </a:pPr>
            <a:r>
              <a:rPr lang="en-US" sz="1800" b="1" dirty="0">
                <a:solidFill>
                  <a:schemeClr val="tx2"/>
                </a:solidFill>
                <a:latin typeface="Segoe UI Black" pitchFamily="34" charset="0"/>
                <a:ea typeface="Segoe UI Black" pitchFamily="34" charset="0"/>
                <a:cs typeface="Rajdhani"/>
                <a:sym typeface="Rajdhani"/>
              </a:rPr>
              <a:t>o Challenges faced during the project o Key learning's from the project</a:t>
            </a:r>
          </a:p>
        </p:txBody>
      </p:sp>
      <p:sp>
        <p:nvSpPr>
          <p:cNvPr id="50" name="Rectangle 49"/>
          <p:cNvSpPr/>
          <p:nvPr/>
        </p:nvSpPr>
        <p:spPr>
          <a:xfrm>
            <a:off x="257175" y="971431"/>
            <a:ext cx="8601075" cy="3754874"/>
          </a:xfrm>
          <a:prstGeom prst="rect">
            <a:avLst/>
          </a:prstGeom>
        </p:spPr>
        <p:txBody>
          <a:bodyPr wrap="square">
            <a:spAutoFit/>
          </a:bodyPr>
          <a:lstStyle/>
          <a:p>
            <a:r>
              <a:rPr lang="en-US" b="1" dirty="0">
                <a:solidFill>
                  <a:srgbClr val="FF0000"/>
                </a:solidFill>
              </a:rPr>
              <a:t>Limited Feature Set for Glasses Detection:</a:t>
            </a:r>
          </a:p>
          <a:p>
            <a:endParaRPr lang="en-US" dirty="0">
              <a:solidFill>
                <a:schemeClr val="tx2"/>
              </a:solidFill>
            </a:endParaRPr>
          </a:p>
          <a:p>
            <a:r>
              <a:rPr lang="en-US" b="1" i="1" dirty="0">
                <a:solidFill>
                  <a:schemeClr val="tx2"/>
                </a:solidFill>
              </a:rPr>
              <a:t>Challenge:</a:t>
            </a:r>
            <a:r>
              <a:rPr lang="en-US" b="1" dirty="0">
                <a:solidFill>
                  <a:schemeClr val="tx2"/>
                </a:solidFill>
              </a:rPr>
              <a:t> </a:t>
            </a:r>
            <a:r>
              <a:rPr lang="en-US" dirty="0">
                <a:solidFill>
                  <a:schemeClr val="tx2"/>
                </a:solidFill>
              </a:rPr>
              <a:t>The script's basic glasses detection relies on specific landmarks and conditions, making it less robust in detecting various types of eyewear.</a:t>
            </a:r>
          </a:p>
          <a:p>
            <a:endParaRPr lang="en-US" dirty="0">
              <a:solidFill>
                <a:schemeClr val="tx2"/>
              </a:solidFill>
            </a:endParaRPr>
          </a:p>
          <a:p>
            <a:r>
              <a:rPr lang="en-US" b="1" i="1" dirty="0">
                <a:solidFill>
                  <a:schemeClr val="tx2"/>
                </a:solidFill>
              </a:rPr>
              <a:t>Learning:</a:t>
            </a:r>
            <a:r>
              <a:rPr lang="en-US" dirty="0">
                <a:solidFill>
                  <a:schemeClr val="tx2"/>
                </a:solidFill>
              </a:rPr>
              <a:t> Developing more sophisticated algorithms for glasses detection and considering additional facial features can improve accuracy.</a:t>
            </a:r>
          </a:p>
          <a:p>
            <a:endParaRPr lang="en-US" dirty="0">
              <a:solidFill>
                <a:schemeClr val="tx2"/>
              </a:solidFill>
            </a:endParaRPr>
          </a:p>
          <a:p>
            <a:r>
              <a:rPr lang="en-US" b="1" dirty="0">
                <a:solidFill>
                  <a:srgbClr val="FF0000"/>
                </a:solidFill>
              </a:rPr>
              <a:t>Connection Django with opencv:</a:t>
            </a:r>
          </a:p>
          <a:p>
            <a:endParaRPr lang="en-US" b="1" dirty="0">
              <a:solidFill>
                <a:srgbClr val="FF0000"/>
              </a:solidFill>
            </a:endParaRPr>
          </a:p>
          <a:p>
            <a:r>
              <a:rPr lang="en-US" b="1" i="1" dirty="0">
                <a:solidFill>
                  <a:schemeClr val="tx2"/>
                </a:solidFill>
              </a:rPr>
              <a:t>Challenge:</a:t>
            </a:r>
            <a:r>
              <a:rPr lang="en-US" i="1" dirty="0">
                <a:solidFill>
                  <a:schemeClr val="tx2"/>
                </a:solidFill>
              </a:rPr>
              <a:t> We make a website examination system  using django but we would not connect the django opencv code with website test window.</a:t>
            </a:r>
            <a:endParaRPr lang="en-US" dirty="0">
              <a:solidFill>
                <a:schemeClr val="tx2"/>
              </a:solidFill>
            </a:endParaRPr>
          </a:p>
          <a:p>
            <a:endParaRPr lang="en-US" dirty="0">
              <a:solidFill>
                <a:schemeClr val="tx2"/>
              </a:solidFill>
            </a:endParaRPr>
          </a:p>
          <a:p>
            <a:r>
              <a:rPr lang="en-US" b="1" i="1" dirty="0">
                <a:solidFill>
                  <a:schemeClr val="tx2"/>
                </a:solidFill>
              </a:rPr>
              <a:t>Learning:</a:t>
            </a:r>
            <a:r>
              <a:rPr lang="en-US" i="1" dirty="0">
                <a:solidFill>
                  <a:schemeClr val="tx2"/>
                </a:solidFill>
              </a:rPr>
              <a:t> Developing more this problems.</a:t>
            </a:r>
            <a:endParaRPr lang="en-US" dirty="0">
              <a:solidFill>
                <a:schemeClr val="tx2"/>
              </a:solidFill>
            </a:endParaRPr>
          </a:p>
          <a:p>
            <a:endParaRPr lang="en-US" b="1" dirty="0">
              <a:solidFill>
                <a:schemeClr val="tx2"/>
              </a:solidFill>
            </a:endParaRPr>
          </a:p>
          <a:p>
            <a:endParaRPr lang="en-US" b="1" dirty="0">
              <a:solidFill>
                <a:schemeClr val="tx2"/>
              </a:solidFill>
            </a:endParaRPr>
          </a:p>
          <a:p>
            <a:endParaRPr lang="en-US" dirty="0">
              <a:solidFill>
                <a:schemeClr val="tx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117" name="Google Shape;463;p25"/>
          <p:cNvSpPr txBox="1">
            <a:spLocks/>
          </p:cNvSpPr>
          <p:nvPr/>
        </p:nvSpPr>
        <p:spPr>
          <a:xfrm>
            <a:off x="328612" y="0"/>
            <a:ext cx="8486775" cy="1000125"/>
          </a:xfrm>
          <a:prstGeom prst="rect">
            <a:avLst/>
          </a:prstGeom>
          <a:noFill/>
          <a:ln>
            <a:noFill/>
          </a:ln>
        </p:spPr>
        <p:txBody>
          <a:bodyPr spcFirstLastPara="1" wrap="square" lIns="91425" tIns="91425" rIns="91425" bIns="91425" anchor="t" anchorCtr="0">
            <a:noAutofit/>
          </a:bodyPr>
          <a:lstStyle/>
          <a:p>
            <a:pPr lvl="0" algn="ctr">
              <a:buClr>
                <a:schemeClr val="lt2"/>
              </a:buClr>
              <a:buSzPts val="3000"/>
            </a:pPr>
            <a:r>
              <a:rPr lang="en-US" sz="3000" b="1" dirty="0">
                <a:solidFill>
                  <a:srgbClr val="FFFF00"/>
                </a:solidFill>
                <a:latin typeface="Segoe UI Black" pitchFamily="34" charset="0"/>
                <a:ea typeface="Segoe UI Black" pitchFamily="34" charset="0"/>
                <a:cs typeface="Rajdhani"/>
                <a:sym typeface="Rajdhani"/>
              </a:rPr>
              <a:t>Conclusion </a:t>
            </a:r>
          </a:p>
          <a:p>
            <a:pPr lvl="0" algn="ctr">
              <a:buClr>
                <a:schemeClr val="lt2"/>
              </a:buClr>
              <a:buSzPts val="3000"/>
            </a:pPr>
            <a:r>
              <a:rPr lang="en-US" sz="1600" b="1" dirty="0">
                <a:solidFill>
                  <a:schemeClr val="tx2"/>
                </a:solidFill>
                <a:latin typeface="Segoe UI Black" pitchFamily="34" charset="0"/>
                <a:ea typeface="Segoe UI Black" pitchFamily="34" charset="0"/>
                <a:cs typeface="Rajdhani"/>
                <a:sym typeface="Rajdhani"/>
              </a:rPr>
              <a:t>Summarize the main points of your presentation</a:t>
            </a:r>
          </a:p>
        </p:txBody>
      </p:sp>
      <p:sp>
        <p:nvSpPr>
          <p:cNvPr id="2" name="TextBox 1">
            <a:extLst>
              <a:ext uri="{FF2B5EF4-FFF2-40B4-BE49-F238E27FC236}">
                <a16:creationId xmlns:a16="http://schemas.microsoft.com/office/drawing/2014/main" id="{849F962C-7182-42B9-B1C9-3D433FDDAD7A}"/>
              </a:ext>
            </a:extLst>
          </p:cNvPr>
          <p:cNvSpPr txBox="1"/>
          <p:nvPr/>
        </p:nvSpPr>
        <p:spPr>
          <a:xfrm>
            <a:off x="439481" y="758456"/>
            <a:ext cx="8628984" cy="4616648"/>
          </a:xfrm>
          <a:prstGeom prst="rect">
            <a:avLst/>
          </a:prstGeom>
          <a:noFill/>
        </p:spPr>
        <p:txBody>
          <a:bodyPr wrap="square" rtlCol="0">
            <a:spAutoFit/>
          </a:bodyPr>
          <a:lstStyle/>
          <a:p>
            <a:pPr marL="342900" indent="-342900">
              <a:buClr>
                <a:srgbClr val="FF0000"/>
              </a:buClr>
              <a:buFont typeface="+mj-lt"/>
              <a:buAutoNum type="arabicPeriod"/>
            </a:pPr>
            <a:r>
              <a:rPr lang="en-US" b="1" dirty="0">
                <a:solidFill>
                  <a:srgbClr val="FF0000"/>
                </a:solidFill>
              </a:rPr>
              <a:t>Project Overview:</a:t>
            </a:r>
            <a:endParaRPr lang="en-US" dirty="0">
              <a:solidFill>
                <a:srgbClr val="FF0000"/>
              </a:solidFill>
            </a:endParaRPr>
          </a:p>
          <a:p>
            <a:pPr lvl="1"/>
            <a:r>
              <a:rPr lang="en-US" dirty="0">
                <a:solidFill>
                  <a:schemeClr val="tx2"/>
                </a:solidFill>
              </a:rPr>
              <a:t>Introduction to the development of an online examination system with AI camera detection.</a:t>
            </a:r>
          </a:p>
          <a:p>
            <a:pPr lvl="1"/>
            <a:r>
              <a:rPr lang="en-US" dirty="0">
                <a:solidFill>
                  <a:schemeClr val="tx2"/>
                </a:solidFill>
              </a:rPr>
              <a:t>Brief explanation of the project's objectives and significance in modern educational technology.</a:t>
            </a:r>
          </a:p>
          <a:p>
            <a:pPr marL="342900" indent="-342900">
              <a:buClr>
                <a:srgbClr val="FF0000"/>
              </a:buClr>
              <a:buFont typeface="+mj-lt"/>
              <a:buAutoNum type="arabicPeriod"/>
            </a:pPr>
            <a:r>
              <a:rPr lang="en-US" b="1" dirty="0">
                <a:solidFill>
                  <a:srgbClr val="FF0000"/>
                </a:solidFill>
              </a:rPr>
              <a:t>Research Questions:</a:t>
            </a:r>
            <a:endParaRPr lang="en-US" dirty="0">
              <a:solidFill>
                <a:srgbClr val="FF0000"/>
              </a:solidFill>
            </a:endParaRPr>
          </a:p>
          <a:p>
            <a:pPr lvl="1"/>
            <a:r>
              <a:rPr lang="en-US" dirty="0">
                <a:solidFill>
                  <a:schemeClr val="tx2"/>
                </a:solidFill>
              </a:rPr>
              <a:t>Presentation of carefully crafted research questions addressing technical, ethical, and user-related aspects of the project.</a:t>
            </a:r>
          </a:p>
          <a:p>
            <a:pPr lvl="1"/>
            <a:r>
              <a:rPr lang="en-US" dirty="0">
                <a:solidFill>
                  <a:schemeClr val="tx2"/>
                </a:solidFill>
              </a:rPr>
              <a:t>Highlighting the interdisciplinary nature of the questions involving computer science, ethics, education, and law.</a:t>
            </a:r>
          </a:p>
          <a:p>
            <a:pPr marL="342900" indent="-342900">
              <a:buClr>
                <a:srgbClr val="FF0000"/>
              </a:buClr>
              <a:buFont typeface="+mj-lt"/>
              <a:buAutoNum type="arabicPeriod"/>
            </a:pPr>
            <a:r>
              <a:rPr lang="en-US" b="1" dirty="0">
                <a:solidFill>
                  <a:srgbClr val="FF0000"/>
                </a:solidFill>
              </a:rPr>
              <a:t>Project Timeline:</a:t>
            </a:r>
            <a:endParaRPr lang="en-US" dirty="0">
              <a:solidFill>
                <a:srgbClr val="FF0000"/>
              </a:solidFill>
            </a:endParaRPr>
          </a:p>
          <a:p>
            <a:pPr lvl="1"/>
            <a:r>
              <a:rPr lang="en-US" dirty="0">
                <a:solidFill>
                  <a:schemeClr val="tx2"/>
                </a:solidFill>
              </a:rPr>
              <a:t>A detailed project timeline divided into phases, including planning and research, development, testing, deployment, documentation, and ongoing maintenance.</a:t>
            </a:r>
          </a:p>
          <a:p>
            <a:pPr lvl="1"/>
            <a:r>
              <a:rPr lang="en-US" dirty="0">
                <a:solidFill>
                  <a:schemeClr val="tx2"/>
                </a:solidFill>
              </a:rPr>
              <a:t>Emphasis on the iterative nature of the development process and the need for regular reviews and adjustments.</a:t>
            </a:r>
          </a:p>
          <a:p>
            <a:pPr marL="342900" indent="-342900">
              <a:buClr>
                <a:srgbClr val="FF0000"/>
              </a:buClr>
              <a:buFont typeface="+mj-lt"/>
              <a:buAutoNum type="arabicPeriod"/>
            </a:pPr>
            <a:r>
              <a:rPr lang="en-US" b="1" dirty="0">
                <a:solidFill>
                  <a:srgbClr val="FF0000"/>
                </a:solidFill>
              </a:rPr>
              <a:t>Key Findings:</a:t>
            </a:r>
            <a:endParaRPr lang="en-US" dirty="0">
              <a:solidFill>
                <a:srgbClr val="FF0000"/>
              </a:solidFill>
            </a:endParaRPr>
          </a:p>
          <a:p>
            <a:pPr lvl="2"/>
            <a:r>
              <a:rPr lang="en-US" dirty="0">
                <a:solidFill>
                  <a:schemeClr val="tx2"/>
                </a:solidFill>
              </a:rPr>
              <a:t>Technical Feasibility: Successful integration of AI for camera detection.</a:t>
            </a:r>
          </a:p>
          <a:p>
            <a:pPr lvl="2"/>
            <a:r>
              <a:rPr lang="en-US" dirty="0">
                <a:solidFill>
                  <a:schemeClr val="tx2"/>
                </a:solidFill>
              </a:rPr>
              <a:t>Security and Privacy: Effective measures in place to ensure exam integrity..</a:t>
            </a:r>
          </a:p>
          <a:p>
            <a:pPr marL="342900" indent="-342900">
              <a:buClr>
                <a:srgbClr val="FF0000"/>
              </a:buClr>
              <a:buFont typeface="+mj-lt"/>
              <a:buAutoNum type="arabicPeriod"/>
            </a:pPr>
            <a:r>
              <a:rPr lang="en-US" b="1" dirty="0">
                <a:solidFill>
                  <a:srgbClr val="FF0000"/>
                </a:solidFill>
              </a:rPr>
              <a:t>Interpretation of Findings:</a:t>
            </a:r>
            <a:endParaRPr lang="en-US" dirty="0">
              <a:solidFill>
                <a:srgbClr val="FF0000"/>
              </a:solidFill>
            </a:endParaRPr>
          </a:p>
          <a:p>
            <a:pPr lvl="1"/>
            <a:r>
              <a:rPr lang="en-US" dirty="0">
                <a:solidFill>
                  <a:schemeClr val="tx2"/>
                </a:solidFill>
              </a:rPr>
              <a:t>An interpretation of the key findings, emphasizing the success and implications of the project.</a:t>
            </a:r>
          </a:p>
          <a:p>
            <a:pPr lvl="1"/>
            <a:r>
              <a:rPr lang="en-US" dirty="0">
                <a:solidFill>
                  <a:schemeClr val="tx2"/>
                </a:solidFill>
              </a:rPr>
              <a:t>Recognition of the project's contributions to modernizing online examination processes, balancing security, user experience, and ethical considerations.</a:t>
            </a:r>
          </a:p>
          <a:p>
            <a:endParaRPr lang="en-IN" dirty="0">
              <a:solidFill>
                <a:schemeClr val="tx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77E2B-453E-46F2-9788-2F28CFBF5EE5}"/>
              </a:ext>
            </a:extLst>
          </p:cNvPr>
          <p:cNvSpPr>
            <a:spLocks noGrp="1"/>
          </p:cNvSpPr>
          <p:nvPr>
            <p:ph type="title"/>
          </p:nvPr>
        </p:nvSpPr>
        <p:spPr/>
        <p:txBody>
          <a:bodyPr/>
          <a:lstStyle/>
          <a:p>
            <a:r>
              <a:rPr lang="en-US" sz="2000" dirty="0">
                <a:solidFill>
                  <a:schemeClr val="tx2"/>
                </a:solidFill>
                <a:latin typeface="Segoe UI Black" pitchFamily="34" charset="0"/>
                <a:ea typeface="Segoe UI Black" pitchFamily="34" charset="0"/>
              </a:rPr>
              <a:t>Restate the significance of your findings</a:t>
            </a:r>
            <a:endParaRPr lang="en-IN" sz="2000" dirty="0"/>
          </a:p>
        </p:txBody>
      </p:sp>
      <p:sp>
        <p:nvSpPr>
          <p:cNvPr id="3" name="TextBox 2">
            <a:extLst>
              <a:ext uri="{FF2B5EF4-FFF2-40B4-BE49-F238E27FC236}">
                <a16:creationId xmlns:a16="http://schemas.microsoft.com/office/drawing/2014/main" id="{4A9A413B-0290-4504-8BCB-90780DA12B7F}"/>
              </a:ext>
            </a:extLst>
          </p:cNvPr>
          <p:cNvSpPr txBox="1"/>
          <p:nvPr/>
        </p:nvSpPr>
        <p:spPr>
          <a:xfrm>
            <a:off x="720100" y="1006549"/>
            <a:ext cx="7703800" cy="3754874"/>
          </a:xfrm>
          <a:prstGeom prst="rect">
            <a:avLst/>
          </a:prstGeom>
          <a:noFill/>
        </p:spPr>
        <p:txBody>
          <a:bodyPr wrap="square" rtlCol="0">
            <a:spAutoFit/>
          </a:bodyPr>
          <a:lstStyle/>
          <a:p>
            <a:pPr marL="342900" indent="-342900">
              <a:buClr>
                <a:srgbClr val="FF0000"/>
              </a:buClr>
              <a:buFont typeface="+mj-lt"/>
              <a:buAutoNum type="arabicParenR"/>
            </a:pPr>
            <a:r>
              <a:rPr lang="en-US" b="1" dirty="0">
                <a:solidFill>
                  <a:srgbClr val="FF0000"/>
                </a:solidFill>
              </a:rPr>
              <a:t>Advancement in Technology:</a:t>
            </a:r>
            <a:endParaRPr lang="en-US" dirty="0">
              <a:solidFill>
                <a:srgbClr val="FF0000"/>
              </a:solidFill>
            </a:endParaRPr>
          </a:p>
          <a:p>
            <a:pPr lvl="1"/>
            <a:r>
              <a:rPr lang="en-US" dirty="0">
                <a:solidFill>
                  <a:schemeClr val="tx2"/>
                </a:solidFill>
              </a:rPr>
              <a:t>The successful integration of AI for camera detection showcases the project's contribution to the advancement of technology in the educational domain.</a:t>
            </a:r>
          </a:p>
          <a:p>
            <a:pPr marL="342900" indent="-342900">
              <a:buClr>
                <a:srgbClr val="FF0000"/>
              </a:buClr>
              <a:buFont typeface="+mj-lt"/>
              <a:buAutoNum type="arabicParenR"/>
            </a:pPr>
            <a:r>
              <a:rPr lang="en-US" b="1" dirty="0">
                <a:solidFill>
                  <a:srgbClr val="FF0000"/>
                </a:solidFill>
              </a:rPr>
              <a:t>Enhanced Exam Security:</a:t>
            </a:r>
            <a:endParaRPr lang="en-US" dirty="0">
              <a:solidFill>
                <a:srgbClr val="FF0000"/>
              </a:solidFill>
            </a:endParaRPr>
          </a:p>
          <a:p>
            <a:pPr lvl="1"/>
            <a:r>
              <a:rPr lang="en-US" dirty="0">
                <a:solidFill>
                  <a:schemeClr val="tx2"/>
                </a:solidFill>
              </a:rPr>
              <a:t>The implementation of effective security measures, including AI-based camera detection, signifies a major step forward in bolstering exam security.</a:t>
            </a:r>
          </a:p>
          <a:p>
            <a:pPr marL="342900" indent="-342900">
              <a:buClr>
                <a:srgbClr val="FF0000"/>
              </a:buClr>
              <a:buFont typeface="+mj-lt"/>
              <a:buAutoNum type="arabicParenR"/>
            </a:pPr>
            <a:r>
              <a:rPr lang="en-US" b="1" dirty="0">
                <a:solidFill>
                  <a:srgbClr val="FF0000"/>
                </a:solidFill>
              </a:rPr>
              <a:t>Improved User Experience:</a:t>
            </a:r>
            <a:endParaRPr lang="en-US" dirty="0">
              <a:solidFill>
                <a:srgbClr val="FF0000"/>
              </a:solidFill>
            </a:endParaRPr>
          </a:p>
          <a:p>
            <a:pPr lvl="1"/>
            <a:r>
              <a:rPr lang="en-US" dirty="0">
                <a:solidFill>
                  <a:schemeClr val="tx2"/>
                </a:solidFill>
              </a:rPr>
              <a:t>Positive user experiences, as evidenced by minimized disruptions and user-friendly interfaces, highlight the project's commitment to enhancing the overall online exam experience for students.</a:t>
            </a:r>
          </a:p>
          <a:p>
            <a:pPr marL="342900" indent="-342900">
              <a:buClr>
                <a:srgbClr val="FF0000"/>
              </a:buClr>
              <a:buFont typeface="+mj-lt"/>
              <a:buAutoNum type="arabicParenR"/>
            </a:pPr>
            <a:r>
              <a:rPr lang="en-US" b="1" dirty="0">
                <a:solidFill>
                  <a:srgbClr val="FF0000"/>
                </a:solidFill>
              </a:rPr>
              <a:t>Versatility and Scalability:</a:t>
            </a:r>
            <a:endParaRPr lang="en-US" dirty="0">
              <a:solidFill>
                <a:srgbClr val="FF0000"/>
              </a:solidFill>
            </a:endParaRPr>
          </a:p>
          <a:p>
            <a:pPr lvl="1"/>
            <a:r>
              <a:rPr lang="en-US" dirty="0">
                <a:solidFill>
                  <a:schemeClr val="tx2"/>
                </a:solidFill>
              </a:rPr>
              <a:t>The adaptability of the system to various exam types and its scalability for large-scale use indicate its versatility and robust design.</a:t>
            </a:r>
          </a:p>
          <a:p>
            <a:pPr marL="342900" indent="-342900">
              <a:buClr>
                <a:srgbClr val="FF0000"/>
              </a:buClr>
              <a:buFont typeface="+mj-lt"/>
              <a:buAutoNum type="arabicParenR"/>
            </a:pPr>
            <a:r>
              <a:rPr lang="en-US" b="1" dirty="0">
                <a:solidFill>
                  <a:srgbClr val="FF0000"/>
                </a:solidFill>
              </a:rPr>
              <a:t>Ethical and Fair Practices:</a:t>
            </a:r>
            <a:endParaRPr lang="en-US" dirty="0">
              <a:solidFill>
                <a:srgbClr val="FF0000"/>
              </a:solidFill>
            </a:endParaRPr>
          </a:p>
          <a:p>
            <a:pPr lvl="1"/>
            <a:r>
              <a:rPr lang="en-US" dirty="0">
                <a:solidFill>
                  <a:schemeClr val="tx2"/>
                </a:solidFill>
              </a:rPr>
              <a:t>Compliance with ethical guidelines and regulations, coupled with efforts to mitigate biases in AI models, underscores the project's commitment to ethical and fair practices in educational technology.</a:t>
            </a:r>
          </a:p>
        </p:txBody>
      </p:sp>
    </p:spTree>
    <p:extLst>
      <p:ext uri="{BB962C8B-B14F-4D97-AF65-F5344CB8AC3E}">
        <p14:creationId xmlns:p14="http://schemas.microsoft.com/office/powerpoint/2010/main" val="203145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61" name="Google Shape;463;p25"/>
          <p:cNvSpPr txBox="1">
            <a:spLocks/>
          </p:cNvSpPr>
          <p:nvPr/>
        </p:nvSpPr>
        <p:spPr>
          <a:xfrm>
            <a:off x="361950" y="0"/>
            <a:ext cx="8486775" cy="1000125"/>
          </a:xfrm>
          <a:prstGeom prst="rect">
            <a:avLst/>
          </a:prstGeom>
          <a:noFill/>
          <a:ln>
            <a:noFill/>
          </a:ln>
        </p:spPr>
        <p:txBody>
          <a:bodyPr spcFirstLastPara="1" wrap="square" lIns="91425" tIns="91425" rIns="91425" bIns="91425" anchor="t" anchorCtr="0">
            <a:noAutofit/>
          </a:bodyPr>
          <a:lstStyle/>
          <a:p>
            <a:pPr lvl="0" algn="ctr">
              <a:buClr>
                <a:schemeClr val="lt2"/>
              </a:buClr>
              <a:buSzPts val="3000"/>
            </a:pPr>
            <a:r>
              <a:rPr lang="en-US" sz="3000" b="1" dirty="0">
                <a:solidFill>
                  <a:srgbClr val="FFFF00"/>
                </a:solidFill>
                <a:latin typeface="Segoe UI Black" pitchFamily="34" charset="0"/>
                <a:ea typeface="Segoe UI Black" pitchFamily="34" charset="0"/>
                <a:cs typeface="Rajdhani"/>
                <a:sym typeface="Rajdhani"/>
              </a:rPr>
              <a:t>Acknowledgments </a:t>
            </a:r>
          </a:p>
          <a:p>
            <a:pPr lvl="0" algn="ctr">
              <a:buClr>
                <a:schemeClr val="lt2"/>
              </a:buClr>
              <a:buSzPts val="3000"/>
            </a:pPr>
            <a:r>
              <a:rPr lang="en-US" sz="1800" b="1" dirty="0">
                <a:solidFill>
                  <a:schemeClr val="tx2"/>
                </a:solidFill>
                <a:latin typeface="Segoe UI Black" pitchFamily="34" charset="0"/>
                <a:ea typeface="Segoe UI Black" pitchFamily="34" charset="0"/>
                <a:cs typeface="Rajdhani"/>
                <a:sym typeface="Rajdhani"/>
              </a:rPr>
              <a:t>o Thank your supervisor, team members, and any other contributor</a:t>
            </a:r>
          </a:p>
        </p:txBody>
      </p:sp>
      <p:sp>
        <p:nvSpPr>
          <p:cNvPr id="62" name="Rectangle 61"/>
          <p:cNvSpPr/>
          <p:nvPr/>
        </p:nvSpPr>
        <p:spPr>
          <a:xfrm>
            <a:off x="0" y="876300"/>
            <a:ext cx="9144000" cy="4185761"/>
          </a:xfrm>
          <a:prstGeom prst="rect">
            <a:avLst/>
          </a:prstGeom>
        </p:spPr>
        <p:txBody>
          <a:bodyPr wrap="square">
            <a:spAutoFit/>
          </a:bodyPr>
          <a:lstStyle/>
          <a:p>
            <a:r>
              <a:rPr lang="en-US" b="1" dirty="0">
                <a:solidFill>
                  <a:schemeClr val="tx2"/>
                </a:solidFill>
              </a:rPr>
              <a:t>I would like to express my sincere gratitude to:</a:t>
            </a:r>
          </a:p>
          <a:p>
            <a:endParaRPr lang="en-US" b="1" dirty="0">
              <a:solidFill>
                <a:schemeClr val="tx2"/>
              </a:solidFill>
            </a:endParaRPr>
          </a:p>
          <a:p>
            <a:r>
              <a:rPr lang="en-US" b="1" dirty="0">
                <a:solidFill>
                  <a:schemeClr val="tx2"/>
                </a:solidFill>
              </a:rPr>
              <a:t>My Supervisor:</a:t>
            </a:r>
          </a:p>
          <a:p>
            <a:endParaRPr lang="en-US" dirty="0">
              <a:solidFill>
                <a:schemeClr val="tx2"/>
              </a:solidFill>
            </a:endParaRPr>
          </a:p>
          <a:p>
            <a:pPr lvl="1"/>
            <a:r>
              <a:rPr lang="en-US" b="1" dirty="0">
                <a:solidFill>
                  <a:srgbClr val="FFFF00"/>
                </a:solidFill>
              </a:rPr>
              <a:t>[Ananjan maiti]</a:t>
            </a:r>
          </a:p>
          <a:p>
            <a:pPr lvl="1"/>
            <a:r>
              <a:rPr lang="en-US" b="1" dirty="0">
                <a:solidFill>
                  <a:srgbClr val="FFFF00"/>
                </a:solidFill>
              </a:rPr>
              <a:t>[Chirajnjib Dutta ,HOD]</a:t>
            </a:r>
          </a:p>
          <a:p>
            <a:pPr lvl="1"/>
            <a:endParaRPr lang="en-US" b="1" dirty="0">
              <a:solidFill>
                <a:srgbClr val="FFFF00"/>
              </a:solidFill>
            </a:endParaRPr>
          </a:p>
          <a:p>
            <a:pPr lvl="1"/>
            <a:r>
              <a:rPr lang="en-US" dirty="0">
                <a:solidFill>
                  <a:schemeClr val="tx2"/>
                </a:solidFill>
              </a:rPr>
              <a:t>For their valuable guidance, mentorship, and unwavering support throughout the development of this project. Their expertise and insights have been instrumental in shaping the project's direction and ensuring its success.</a:t>
            </a:r>
          </a:p>
          <a:p>
            <a:r>
              <a:rPr lang="en-US" b="1" dirty="0">
                <a:solidFill>
                  <a:schemeClr val="tx2"/>
                </a:solidFill>
              </a:rPr>
              <a:t>Team Members:</a:t>
            </a:r>
          </a:p>
          <a:p>
            <a:r>
              <a:rPr lang="en-US" b="1" dirty="0">
                <a:solidFill>
                  <a:srgbClr val="FFFF00"/>
                </a:solidFill>
              </a:rPr>
              <a:t>[Soumya Deep </a:t>
            </a:r>
            <a:r>
              <a:rPr lang="en-US" b="1" dirty="0" err="1">
                <a:solidFill>
                  <a:srgbClr val="FFFF00"/>
                </a:solidFill>
              </a:rPr>
              <a:t>Saha</a:t>
            </a:r>
            <a:r>
              <a:rPr lang="en-US" b="1" dirty="0">
                <a:solidFill>
                  <a:srgbClr val="FFFF00"/>
                </a:solidFill>
              </a:rPr>
              <a:t>]</a:t>
            </a:r>
            <a:endParaRPr lang="en-US" dirty="0">
              <a:solidFill>
                <a:schemeClr val="tx2"/>
              </a:solidFill>
            </a:endParaRPr>
          </a:p>
          <a:p>
            <a:pPr lvl="1"/>
            <a:r>
              <a:rPr lang="en-US" b="1" dirty="0">
                <a:solidFill>
                  <a:srgbClr val="FFFF00"/>
                </a:solidFill>
              </a:rPr>
              <a:t>[</a:t>
            </a:r>
            <a:r>
              <a:rPr lang="en-US" b="1" dirty="0" err="1">
                <a:solidFill>
                  <a:srgbClr val="FFFF00"/>
                </a:solidFill>
              </a:rPr>
              <a:t>Sutanu</a:t>
            </a:r>
            <a:r>
              <a:rPr lang="en-US" b="1" dirty="0">
                <a:solidFill>
                  <a:srgbClr val="FFFF00"/>
                </a:solidFill>
              </a:rPr>
              <a:t> Mukherjee]</a:t>
            </a:r>
          </a:p>
          <a:p>
            <a:pPr lvl="1"/>
            <a:r>
              <a:rPr lang="en-US" b="1" dirty="0">
                <a:solidFill>
                  <a:srgbClr val="FFFF00"/>
                </a:solidFill>
              </a:rPr>
              <a:t>[Ishita Sen]</a:t>
            </a:r>
          </a:p>
          <a:p>
            <a:pPr lvl="1"/>
            <a:r>
              <a:rPr lang="en-US" b="1" dirty="0">
                <a:solidFill>
                  <a:srgbClr val="FFFF00"/>
                </a:solidFill>
              </a:rPr>
              <a:t>[</a:t>
            </a:r>
            <a:r>
              <a:rPr lang="en-US" b="1" dirty="0" err="1">
                <a:solidFill>
                  <a:srgbClr val="FFFF00"/>
                </a:solidFill>
              </a:rPr>
              <a:t>Shreshta</a:t>
            </a:r>
            <a:r>
              <a:rPr lang="en-US" b="1" dirty="0">
                <a:solidFill>
                  <a:srgbClr val="FFFF00"/>
                </a:solidFill>
              </a:rPr>
              <a:t> Saha]</a:t>
            </a:r>
          </a:p>
          <a:p>
            <a:pPr lvl="1"/>
            <a:endParaRPr lang="en-US" b="1" dirty="0">
              <a:solidFill>
                <a:srgbClr val="FFFF00"/>
              </a:solidFill>
            </a:endParaRPr>
          </a:p>
          <a:p>
            <a:pPr lvl="1"/>
            <a:r>
              <a:rPr lang="en-US" dirty="0">
                <a:solidFill>
                  <a:schemeClr val="tx2"/>
                </a:solidFill>
              </a:rPr>
              <a:t>Each team member has played an integral role in contributing their skills and expertise to different aspects of the project. The collaborative effort and synergy within the team significantly enriched the project's outcomes.</a:t>
            </a:r>
          </a:p>
          <a:p>
            <a:br>
              <a:rPr lang="en-US" dirty="0">
                <a:solidFill>
                  <a:schemeClr val="tx2"/>
                </a:solidFill>
              </a:rPr>
            </a:br>
            <a:endParaRPr lang="en-US" dirty="0">
              <a:solidFill>
                <a:schemeClr val="tx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63;p25"/>
          <p:cNvSpPr txBox="1">
            <a:spLocks/>
          </p:cNvSpPr>
          <p:nvPr/>
        </p:nvSpPr>
        <p:spPr>
          <a:xfrm>
            <a:off x="361950" y="0"/>
            <a:ext cx="8486775" cy="1000125"/>
          </a:xfrm>
          <a:prstGeom prst="rect">
            <a:avLst/>
          </a:prstGeom>
          <a:noFill/>
          <a:ln>
            <a:noFill/>
          </a:ln>
        </p:spPr>
        <p:txBody>
          <a:bodyPr spcFirstLastPara="1" wrap="square" lIns="91425" tIns="91425" rIns="91425" bIns="91425" anchor="t" anchorCtr="0">
            <a:noAutofit/>
          </a:bodyPr>
          <a:lstStyle/>
          <a:p>
            <a:pPr lvl="0" algn="ctr">
              <a:buClr>
                <a:schemeClr val="lt2"/>
              </a:buClr>
              <a:buSzPts val="3000"/>
            </a:pPr>
            <a:r>
              <a:rPr lang="en-US" sz="3200" b="1" dirty="0">
                <a:solidFill>
                  <a:srgbClr val="FFFF00"/>
                </a:solidFill>
                <a:latin typeface="Segoe UI Black" pitchFamily="34" charset="0"/>
                <a:ea typeface="Segoe UI Black" pitchFamily="34" charset="0"/>
              </a:rPr>
              <a:t>Q&amp;A / Discussion </a:t>
            </a:r>
          </a:p>
          <a:p>
            <a:pPr lvl="0" algn="ctr">
              <a:buClr>
                <a:schemeClr val="lt2"/>
              </a:buClr>
              <a:buSzPts val="3000"/>
            </a:pPr>
            <a:r>
              <a:rPr lang="en-US" sz="2400" b="1" dirty="0">
                <a:solidFill>
                  <a:schemeClr val="tx2"/>
                </a:solidFill>
                <a:latin typeface="Segoe UI Black" pitchFamily="34" charset="0"/>
                <a:ea typeface="Segoe UI Black" pitchFamily="34" charset="0"/>
              </a:rPr>
              <a:t>o Invite questions from the audience or panel</a:t>
            </a:r>
            <a:endParaRPr lang="en-US" sz="2400" b="1" dirty="0">
              <a:solidFill>
                <a:schemeClr val="tx2"/>
              </a:solidFill>
              <a:latin typeface="Segoe UI Black" pitchFamily="34" charset="0"/>
              <a:ea typeface="Segoe UI Black" pitchFamily="34" charset="0"/>
              <a:cs typeface="Rajdhani"/>
              <a:sym typeface="Rajdhani"/>
            </a:endParaRPr>
          </a:p>
        </p:txBody>
      </p:sp>
      <p:sp>
        <p:nvSpPr>
          <p:cNvPr id="6" name="Rectangle 5"/>
          <p:cNvSpPr/>
          <p:nvPr/>
        </p:nvSpPr>
        <p:spPr>
          <a:xfrm>
            <a:off x="114300" y="1962150"/>
            <a:ext cx="8886825" cy="1323439"/>
          </a:xfrm>
          <a:prstGeom prst="rect">
            <a:avLst/>
          </a:prstGeom>
        </p:spPr>
        <p:txBody>
          <a:bodyPr wrap="square">
            <a:spAutoFit/>
          </a:bodyPr>
          <a:lstStyle/>
          <a:p>
            <a:pPr lvl="0" algn="ctr" fontAlgn="base">
              <a:spcBef>
                <a:spcPct val="0"/>
              </a:spcBef>
              <a:spcAft>
                <a:spcPct val="0"/>
              </a:spcAft>
              <a:buClrTx/>
            </a:pPr>
            <a:r>
              <a:rPr lang="en-US" sz="2000" dirty="0">
                <a:solidFill>
                  <a:srgbClr val="FFFFFF"/>
                </a:solidFill>
                <a:latin typeface="Söhne"/>
                <a:cs typeface="Arial" pitchFamily="34" charset="0"/>
              </a:rPr>
              <a:t>I would be delighted to address any questions from the audience or panel regarding the automated attendance tracking system using real-time facial recognition or any related topics. Please feel free to ask your questions, and I'll do my best to provide comprehensive and insightful answers.</a:t>
            </a:r>
            <a:endParaRPr lang="en-US" sz="2000" dirty="0">
              <a:solidFill>
                <a:schemeClr val="tx1"/>
              </a:solidFill>
              <a:latin typeface="Arial" pitchFamily="34" charset="0"/>
              <a:cs typeface="Arial"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8175" y="1706849"/>
            <a:ext cx="8042900" cy="1750725"/>
          </a:xfrm>
        </p:spPr>
        <p:txBody>
          <a:bodyPr/>
          <a:lstStyle/>
          <a:p>
            <a:pPr algn="ctr"/>
            <a:r>
              <a:rPr lang="en-US" sz="9600" dirty="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latin typeface="Rockwell" pitchFamily="18" charset="0"/>
              </a:rPr>
              <a:t>Thank You</a:t>
            </a:r>
          </a:p>
        </p:txBody>
      </p:sp>
    </p:spTree>
  </p:cSld>
  <p:clrMapOvr>
    <a:masterClrMapping/>
  </p:clrMapOvr>
</p:sld>
</file>

<file path=ppt/theme/theme1.xml><?xml version="1.0" encoding="utf-8"?>
<a:theme xmlns:a="http://schemas.openxmlformats.org/drawingml/2006/main" name="AI Tech Agency Infographics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TotalTime>
  <Words>3193</Words>
  <Application>Microsoft Office PowerPoint</Application>
  <PresentationFormat>On-screen Show (16:9)</PresentationFormat>
  <Paragraphs>269</Paragraphs>
  <Slides>23</Slides>
  <Notes>18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Anaheim</vt:lpstr>
      <vt:lpstr>Segoe UI Black</vt:lpstr>
      <vt:lpstr>Söhne</vt:lpstr>
      <vt:lpstr>Fira Sans Condensed</vt:lpstr>
      <vt:lpstr>Wingdings</vt:lpstr>
      <vt:lpstr>Rajdhani</vt:lpstr>
      <vt:lpstr>Roboto Condensed Light</vt:lpstr>
      <vt:lpstr>Rockwell</vt:lpstr>
      <vt:lpstr>Arial</vt:lpstr>
      <vt:lpstr>Fira Sans Condensed Light</vt:lpstr>
      <vt:lpstr>AI Tech Agency Infographics by Slidesgo</vt:lpstr>
      <vt:lpstr>PowerPoint Presentation</vt:lpstr>
      <vt:lpstr>Introduction</vt:lpstr>
      <vt:lpstr>Objectives of the project</vt:lpstr>
      <vt:lpstr>Background</vt:lpstr>
      <vt:lpstr>PowerPoint Presentation</vt:lpstr>
      <vt:lpstr>PowerPoint Presentation</vt:lpstr>
      <vt:lpstr>PowerPoint Presentation</vt:lpstr>
      <vt:lpstr>PowerPoint Presentation</vt:lpstr>
      <vt:lpstr>PowerPoint Presentation</vt:lpstr>
      <vt:lpstr>PowerPoint Presentation</vt:lpstr>
      <vt:lpstr>Presentation of collected data</vt:lpstr>
      <vt:lpstr>Findings  Summary of key findings</vt:lpstr>
      <vt:lpstr>PowerPoint Presentation</vt:lpstr>
      <vt:lpstr>Link to the research questions/hypothesis</vt:lpstr>
      <vt:lpstr>PowerPoint Presentation</vt:lpstr>
      <vt:lpstr>PowerPoint Presentation</vt:lpstr>
      <vt:lpstr>PowerPoint Presentation</vt:lpstr>
      <vt:lpstr>PowerPoint Presentation</vt:lpstr>
      <vt:lpstr>PowerPoint Presentation</vt:lpstr>
      <vt:lpstr>Restate the significance of your findings</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name</dc:title>
  <cp:lastModifiedBy>User</cp:lastModifiedBy>
  <cp:revision>20</cp:revision>
  <dcterms:modified xsi:type="dcterms:W3CDTF">2023-12-02T18:28:25Z</dcterms:modified>
</cp:coreProperties>
</file>